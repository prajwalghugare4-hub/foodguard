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8"/>
      <p:bold r:id="rId9"/>
    </p:embeddedFon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Arimo Italics" panose="020B0604020202020204" charset="0"/>
      <p:regular r:id="rId12"/>
    </p:embeddedFont>
    <p:embeddedFont>
      <p:font typeface="Garamond Bold" panose="02020804030307010803" pitchFamily="18" charset="0"/>
      <p:regular r:id="rId13"/>
      <p:bold r:id="rId14"/>
    </p:embeddedFon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Inter Italics" panose="020B0604020202020204" charset="0"/>
      <p:regular r:id="rId17"/>
    </p:embeddedFon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13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12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1.png"/><Relationship Id="rId21" Type="http://schemas.openxmlformats.org/officeDocument/2006/relationships/image" Target="../media/image36.png"/><Relationship Id="rId34" Type="http://schemas.openxmlformats.org/officeDocument/2006/relationships/image" Target="../media/image47.png"/><Relationship Id="rId42" Type="http://schemas.openxmlformats.org/officeDocument/2006/relationships/image" Target="../media/image55.png"/><Relationship Id="rId47" Type="http://schemas.openxmlformats.org/officeDocument/2006/relationships/image" Target="../media/image60.png"/><Relationship Id="rId50" Type="http://schemas.openxmlformats.org/officeDocument/2006/relationships/image" Target="../media/image63.png"/><Relationship Id="rId55" Type="http://schemas.openxmlformats.org/officeDocument/2006/relationships/image" Target="../media/image68.png"/><Relationship Id="rId63" Type="http://schemas.openxmlformats.org/officeDocument/2006/relationships/image" Target="../media/image74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9" Type="http://schemas.openxmlformats.org/officeDocument/2006/relationships/image" Target="../media/image44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1.png"/><Relationship Id="rId37" Type="http://schemas.openxmlformats.org/officeDocument/2006/relationships/image" Target="../media/image50.png"/><Relationship Id="rId40" Type="http://schemas.openxmlformats.org/officeDocument/2006/relationships/image" Target="../media/image53.png"/><Relationship Id="rId45" Type="http://schemas.openxmlformats.org/officeDocument/2006/relationships/image" Target="../media/image58.png"/><Relationship Id="rId53" Type="http://schemas.openxmlformats.org/officeDocument/2006/relationships/image" Target="../media/image66.png"/><Relationship Id="rId58" Type="http://schemas.openxmlformats.org/officeDocument/2006/relationships/image" Target="../media/image71.png"/><Relationship Id="rId5" Type="http://schemas.openxmlformats.org/officeDocument/2006/relationships/image" Target="../media/image20.png"/><Relationship Id="rId61" Type="http://schemas.openxmlformats.org/officeDocument/2006/relationships/image" Target="../media/image3.png"/><Relationship Id="rId19" Type="http://schemas.openxmlformats.org/officeDocument/2006/relationships/image" Target="../media/image3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48.png"/><Relationship Id="rId43" Type="http://schemas.openxmlformats.org/officeDocument/2006/relationships/image" Target="../media/image56.png"/><Relationship Id="rId48" Type="http://schemas.openxmlformats.org/officeDocument/2006/relationships/image" Target="../media/image61.png"/><Relationship Id="rId56" Type="http://schemas.openxmlformats.org/officeDocument/2006/relationships/image" Target="../media/image69.png"/><Relationship Id="rId64" Type="http://schemas.openxmlformats.org/officeDocument/2006/relationships/image" Target="../media/image75.png"/><Relationship Id="rId8" Type="http://schemas.openxmlformats.org/officeDocument/2006/relationships/image" Target="../media/image23.png"/><Relationship Id="rId51" Type="http://schemas.openxmlformats.org/officeDocument/2006/relationships/image" Target="../media/image64.png"/><Relationship Id="rId3" Type="http://schemas.openxmlformats.org/officeDocument/2006/relationships/image" Target="../media/image18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.jpeg"/><Relationship Id="rId38" Type="http://schemas.openxmlformats.org/officeDocument/2006/relationships/image" Target="../media/image51.png"/><Relationship Id="rId46" Type="http://schemas.openxmlformats.org/officeDocument/2006/relationships/image" Target="../media/image59.png"/><Relationship Id="rId59" Type="http://schemas.openxmlformats.org/officeDocument/2006/relationships/image" Target="../media/image72.png"/><Relationship Id="rId20" Type="http://schemas.openxmlformats.org/officeDocument/2006/relationships/image" Target="../media/image35.png"/><Relationship Id="rId41" Type="http://schemas.openxmlformats.org/officeDocument/2006/relationships/image" Target="../media/image54.png"/><Relationship Id="rId54" Type="http://schemas.openxmlformats.org/officeDocument/2006/relationships/image" Target="../media/image67.png"/><Relationship Id="rId6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49.png"/><Relationship Id="rId49" Type="http://schemas.openxmlformats.org/officeDocument/2006/relationships/image" Target="../media/image62.png"/><Relationship Id="rId57" Type="http://schemas.openxmlformats.org/officeDocument/2006/relationships/image" Target="../media/image70.png"/><Relationship Id="rId10" Type="http://schemas.openxmlformats.org/officeDocument/2006/relationships/image" Target="../media/image25.png"/><Relationship Id="rId31" Type="http://schemas.openxmlformats.org/officeDocument/2006/relationships/image" Target="../media/image46.png"/><Relationship Id="rId44" Type="http://schemas.openxmlformats.org/officeDocument/2006/relationships/image" Target="../media/image57.png"/><Relationship Id="rId52" Type="http://schemas.openxmlformats.org/officeDocument/2006/relationships/image" Target="../media/image65.png"/><Relationship Id="rId60" Type="http://schemas.openxmlformats.org/officeDocument/2006/relationships/image" Target="../media/image73.png"/><Relationship Id="rId65" Type="http://schemas.openxmlformats.org/officeDocument/2006/relationships/image" Target="../media/image76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9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7.png"/><Relationship Id="rId18" Type="http://schemas.openxmlformats.org/officeDocument/2006/relationships/image" Target="../media/image5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6.png"/><Relationship Id="rId17" Type="http://schemas.openxmlformats.org/officeDocument/2006/relationships/image" Target="../media/image3.png"/><Relationship Id="rId2" Type="http://schemas.openxmlformats.org/officeDocument/2006/relationships/image" Target="../media/image77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5.png"/><Relationship Id="rId5" Type="http://schemas.openxmlformats.org/officeDocument/2006/relationships/image" Target="../media/image80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79.png"/><Relationship Id="rId9" Type="http://schemas.openxmlformats.org/officeDocument/2006/relationships/image" Target="../media/image1.png"/><Relationship Id="rId14" Type="http://schemas.openxmlformats.org/officeDocument/2006/relationships/image" Target="../media/image8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5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11" Type="http://schemas.openxmlformats.org/officeDocument/2006/relationships/image" Target="../media/image98.png"/><Relationship Id="rId5" Type="http://schemas.openxmlformats.org/officeDocument/2006/relationships/image" Target="../media/image94.png"/><Relationship Id="rId10" Type="http://schemas.openxmlformats.org/officeDocument/2006/relationships/image" Target="../media/image97.png"/><Relationship Id="rId4" Type="http://schemas.openxmlformats.org/officeDocument/2006/relationships/image" Target="../media/image93.png"/><Relationship Id="rId9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3.png"/><Relationship Id="rId7" Type="http://schemas.openxmlformats.org/officeDocument/2006/relationships/image" Target="../media/image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104.png"/><Relationship Id="rId5" Type="http://schemas.openxmlformats.org/officeDocument/2006/relationships/image" Target="../media/image99.png"/><Relationship Id="rId10" Type="http://schemas.openxmlformats.org/officeDocument/2006/relationships/image" Target="../media/image103.png"/><Relationship Id="rId4" Type="http://schemas.openxmlformats.org/officeDocument/2006/relationships/image" Target="../media/image5.png"/><Relationship Id="rId9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2925" y="9472612"/>
            <a:ext cx="17202150" cy="385762"/>
            <a:chOff x="0" y="0"/>
            <a:chExt cx="22936200" cy="51435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936200" cy="514350"/>
            </a:xfrm>
            <a:custGeom>
              <a:avLst/>
              <a:gdLst/>
              <a:ahLst/>
              <a:cxnLst/>
              <a:rect l="l" t="t" r="r" b="b"/>
              <a:pathLst>
                <a:path w="22936200" h="514350">
                  <a:moveTo>
                    <a:pt x="0" y="0"/>
                  </a:moveTo>
                  <a:lnTo>
                    <a:pt x="22936200" y="0"/>
                  </a:lnTo>
                  <a:lnTo>
                    <a:pt x="229362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6" r="-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6844962" y="9620250"/>
            <a:ext cx="900112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Slide 1 of 6</a:t>
            </a:r>
          </a:p>
        </p:txBody>
      </p:sp>
      <p:sp>
        <p:nvSpPr>
          <p:cNvPr id="5" name="Freeform 5"/>
          <p:cNvSpPr/>
          <p:nvPr/>
        </p:nvSpPr>
        <p:spPr>
          <a:xfrm>
            <a:off x="10501665" y="1739846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" r="-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79724" y="1215123"/>
            <a:ext cx="11326006" cy="825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9"/>
              </a:lnSpc>
            </a:pPr>
            <a:endParaRPr/>
          </a:p>
          <a:p>
            <a:pPr marL="851808" lvl="3" indent="-212952" algn="just">
              <a:lnSpc>
                <a:spcPts val="7820"/>
              </a:lnSpc>
              <a:buFont typeface="Arial"/>
              <a:buChar char="￭"/>
            </a:pPr>
            <a:r>
              <a:rPr lang="en-US" sz="325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2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CGT03</a:t>
            </a:r>
          </a:p>
          <a:p>
            <a:pPr marL="851808" lvl="3" indent="-212952" algn="just">
              <a:lnSpc>
                <a:spcPts val="7820"/>
              </a:lnSpc>
              <a:buFont typeface="Arial"/>
              <a:buChar char="￭"/>
            </a:pPr>
            <a:r>
              <a:rPr lang="en-US" sz="325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  <a:r>
              <a:rPr lang="en-US" sz="32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Intelligent Food Surplus </a:t>
            </a:r>
          </a:p>
          <a:p>
            <a:pPr marL="851808" lvl="3" indent="-212952" algn="just">
              <a:lnSpc>
                <a:spcPts val="7820"/>
              </a:lnSpc>
            </a:pPr>
            <a:r>
              <a:rPr lang="en-US" sz="32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Prediction, Demand Forecasting,Preparation</a:t>
            </a:r>
          </a:p>
          <a:p>
            <a:pPr marL="851808" lvl="3" indent="-212952" algn="just">
              <a:lnSpc>
                <a:spcPts val="7820"/>
              </a:lnSpc>
            </a:pPr>
            <a:r>
              <a:rPr lang="en-US" sz="32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Recommendations &amp; Rescue System</a:t>
            </a:r>
          </a:p>
          <a:p>
            <a:pPr marL="851808" lvl="3" indent="-212952" algn="just">
              <a:lnSpc>
                <a:spcPts val="7820"/>
              </a:lnSpc>
              <a:buFont typeface="Arial"/>
              <a:buChar char="￭"/>
            </a:pPr>
            <a:r>
              <a:rPr lang="en-US" sz="325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2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 and Green Technology</a:t>
            </a:r>
          </a:p>
          <a:p>
            <a:pPr marL="851808" lvl="3" indent="-212952" algn="just">
              <a:lnSpc>
                <a:spcPts val="7820"/>
              </a:lnSpc>
              <a:buFont typeface="Arial"/>
              <a:buChar char="￭"/>
            </a:pPr>
            <a:r>
              <a:rPr lang="en-US" sz="325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2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/ AI / Native Android</a:t>
            </a:r>
          </a:p>
          <a:p>
            <a:pPr marL="851808" lvl="3" indent="-212952" algn="just">
              <a:lnSpc>
                <a:spcPts val="7820"/>
              </a:lnSpc>
              <a:buFont typeface="Arial"/>
              <a:buChar char="￭"/>
            </a:pPr>
            <a:r>
              <a:rPr lang="en-US" sz="325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marL="851808" lvl="3" indent="-212952" algn="just">
              <a:lnSpc>
                <a:spcPts val="7820"/>
              </a:lnSpc>
              <a:buFont typeface="Arial"/>
              <a:buChar char="￭"/>
            </a:pPr>
            <a:r>
              <a:rPr lang="en-US" sz="325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2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vibe coders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189356" y="326069"/>
            <a:ext cx="2470023" cy="1194816"/>
            <a:chOff x="0" y="0"/>
            <a:chExt cx="3293364" cy="15930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3364" cy="1593088"/>
            </a:xfrm>
            <a:custGeom>
              <a:avLst/>
              <a:gdLst/>
              <a:ahLst/>
              <a:cxnLst/>
              <a:rect l="l" t="t" r="r" b="b"/>
              <a:pathLst>
                <a:path w="3293364" h="1593088">
                  <a:moveTo>
                    <a:pt x="0" y="0"/>
                  </a:moveTo>
                  <a:lnTo>
                    <a:pt x="3293364" y="0"/>
                  </a:lnTo>
                  <a:lnTo>
                    <a:pt x="3293364" y="1593088"/>
                  </a:lnTo>
                  <a:lnTo>
                    <a:pt x="0" y="159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51" b="-4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58910" y="9449"/>
            <a:ext cx="11919147" cy="1828095"/>
            <a:chOff x="0" y="0"/>
            <a:chExt cx="15892196" cy="24374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892196" cy="2437460"/>
            </a:xfrm>
            <a:custGeom>
              <a:avLst/>
              <a:gdLst/>
              <a:ahLst/>
              <a:cxnLst/>
              <a:rect l="l" t="t" r="r" b="b"/>
              <a:pathLst>
                <a:path w="15892196" h="2437460">
                  <a:moveTo>
                    <a:pt x="0" y="0"/>
                  </a:moveTo>
                  <a:lnTo>
                    <a:pt x="15892196" y="0"/>
                  </a:lnTo>
                  <a:lnTo>
                    <a:pt x="15892196" y="2437460"/>
                  </a:lnTo>
                  <a:lnTo>
                    <a:pt x="0" y="24374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7042" b="-770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5892196" cy="2437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838"/>
                </a:lnSpc>
              </a:pPr>
              <a:r>
                <a:rPr lang="en-US" sz="57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2925" y="-591"/>
            <a:ext cx="1741551" cy="1838134"/>
            <a:chOff x="0" y="0"/>
            <a:chExt cx="2322068" cy="24508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22068" cy="2450846"/>
            </a:xfrm>
            <a:custGeom>
              <a:avLst/>
              <a:gdLst/>
              <a:ahLst/>
              <a:cxnLst/>
              <a:rect l="l" t="t" r="r" b="b"/>
              <a:pathLst>
                <a:path w="2322068" h="2450846">
                  <a:moveTo>
                    <a:pt x="0" y="0"/>
                  </a:moveTo>
                  <a:lnTo>
                    <a:pt x="2322068" y="0"/>
                  </a:lnTo>
                  <a:lnTo>
                    <a:pt x="2322068" y="2450846"/>
                  </a:lnTo>
                  <a:lnTo>
                    <a:pt x="0" y="2450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72" r="-277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39756" y="3375607"/>
            <a:ext cx="4805267" cy="5139357"/>
            <a:chOff x="0" y="0"/>
            <a:chExt cx="6407023" cy="68524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4947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2925" y="7258050"/>
            <a:ext cx="17202150" cy="2214562"/>
            <a:chOff x="0" y="0"/>
            <a:chExt cx="22936200" cy="295275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936200" cy="2952750"/>
            </a:xfrm>
            <a:custGeom>
              <a:avLst/>
              <a:gdLst/>
              <a:ahLst/>
              <a:cxnLst/>
              <a:rect l="l" t="t" r="r" b="b"/>
              <a:pathLst>
                <a:path w="22936200" h="2952750">
                  <a:moveTo>
                    <a:pt x="0" y="0"/>
                  </a:moveTo>
                  <a:lnTo>
                    <a:pt x="22936200" y="0"/>
                  </a:lnTo>
                  <a:lnTo>
                    <a:pt x="2293620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6" r="-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42925" y="2054495"/>
            <a:ext cx="8472488" cy="4564856"/>
            <a:chOff x="0" y="0"/>
            <a:chExt cx="11296650" cy="6086475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1296650" cy="6086475"/>
            </a:xfrm>
            <a:custGeom>
              <a:avLst/>
              <a:gdLst/>
              <a:ahLst/>
              <a:cxnLst/>
              <a:rect l="l" t="t" r="r" b="b"/>
              <a:pathLst>
                <a:path w="11296650" h="6086475">
                  <a:moveTo>
                    <a:pt x="0" y="0"/>
                  </a:moveTo>
                  <a:lnTo>
                    <a:pt x="11296650" y="0"/>
                  </a:lnTo>
                  <a:lnTo>
                    <a:pt x="11296650" y="6086475"/>
                  </a:lnTo>
                  <a:lnTo>
                    <a:pt x="0" y="608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5" b="-6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72588" y="2054495"/>
            <a:ext cx="8472488" cy="4564856"/>
            <a:chOff x="0" y="0"/>
            <a:chExt cx="11296650" cy="6086475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1296650" cy="6086475"/>
            </a:xfrm>
            <a:custGeom>
              <a:avLst/>
              <a:gdLst/>
              <a:ahLst/>
              <a:cxnLst/>
              <a:rect l="l" t="t" r="r" b="b"/>
              <a:pathLst>
                <a:path w="11296650" h="6086475">
                  <a:moveTo>
                    <a:pt x="0" y="0"/>
                  </a:moveTo>
                  <a:lnTo>
                    <a:pt x="11296650" y="0"/>
                  </a:lnTo>
                  <a:lnTo>
                    <a:pt x="11296650" y="6086475"/>
                  </a:lnTo>
                  <a:lnTo>
                    <a:pt x="0" y="608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5" b="-6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986712"/>
            <a:ext cx="8243888" cy="1228725"/>
            <a:chOff x="0" y="0"/>
            <a:chExt cx="10991850" cy="1638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991850" cy="1638300"/>
            </a:xfrm>
            <a:custGeom>
              <a:avLst/>
              <a:gdLst/>
              <a:ahLst/>
              <a:cxnLst/>
              <a:rect l="l" t="t" r="r" b="b"/>
              <a:pathLst>
                <a:path w="10991850" h="1638300">
                  <a:moveTo>
                    <a:pt x="0" y="0"/>
                  </a:moveTo>
                  <a:lnTo>
                    <a:pt x="10991850" y="0"/>
                  </a:lnTo>
                  <a:lnTo>
                    <a:pt x="1099185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6" r="-3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44012" y="7986712"/>
            <a:ext cx="8243888" cy="1228725"/>
            <a:chOff x="0" y="0"/>
            <a:chExt cx="10991850" cy="16383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0991850" cy="1638300"/>
            </a:xfrm>
            <a:custGeom>
              <a:avLst/>
              <a:gdLst/>
              <a:ahLst/>
              <a:cxnLst/>
              <a:rect l="l" t="t" r="r" b="b"/>
              <a:pathLst>
                <a:path w="10991850" h="1638300">
                  <a:moveTo>
                    <a:pt x="0" y="0"/>
                  </a:moveTo>
                  <a:lnTo>
                    <a:pt x="10991850" y="0"/>
                  </a:lnTo>
                  <a:lnTo>
                    <a:pt x="1099185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46" r="-3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2925" y="9472612"/>
            <a:ext cx="17202150" cy="385762"/>
            <a:chOff x="0" y="0"/>
            <a:chExt cx="22936200" cy="51435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936200" cy="514350"/>
            </a:xfrm>
            <a:custGeom>
              <a:avLst/>
              <a:gdLst/>
              <a:ahLst/>
              <a:cxnLst/>
              <a:rect l="l" t="t" r="r" b="b"/>
              <a:pathLst>
                <a:path w="22936200" h="514350">
                  <a:moveTo>
                    <a:pt x="0" y="0"/>
                  </a:moveTo>
                  <a:lnTo>
                    <a:pt x="22936200" y="0"/>
                  </a:lnTo>
                  <a:lnTo>
                    <a:pt x="229362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66" r="-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802100" y="9620250"/>
            <a:ext cx="94297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Slide 2 of 6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71575" y="7515225"/>
            <a:ext cx="17116425" cy="357188"/>
            <a:chOff x="0" y="0"/>
            <a:chExt cx="22821900" cy="476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821900" cy="476250"/>
            </a:xfrm>
            <a:custGeom>
              <a:avLst/>
              <a:gdLst/>
              <a:ahLst/>
              <a:cxnLst/>
              <a:rect l="l" t="t" r="r" b="b"/>
              <a:pathLst>
                <a:path w="22821900" h="476250">
                  <a:moveTo>
                    <a:pt x="0" y="0"/>
                  </a:moveTo>
                  <a:lnTo>
                    <a:pt x="22821900" y="0"/>
                  </a:lnTo>
                  <a:lnTo>
                    <a:pt x="228219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883723" b="-883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2821900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Key Differentiator: Pre-Cooking Prevention vs. Post-Cooking Disposal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57312" y="2325957"/>
            <a:ext cx="7695962" cy="414338"/>
            <a:chOff x="0" y="0"/>
            <a:chExt cx="10261282" cy="5524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61282" cy="552450"/>
            </a:xfrm>
            <a:custGeom>
              <a:avLst/>
              <a:gdLst/>
              <a:ahLst/>
              <a:cxnLst/>
              <a:rect l="l" t="t" r="r" b="b"/>
              <a:pathLst>
                <a:path w="10261282" h="552450">
                  <a:moveTo>
                    <a:pt x="0" y="0"/>
                  </a:moveTo>
                  <a:lnTo>
                    <a:pt x="10261282" y="0"/>
                  </a:lnTo>
                  <a:lnTo>
                    <a:pt x="10261282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11917" b="-3119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0261282" cy="571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5"/>
                </a:lnSpc>
              </a:pPr>
              <a:r>
                <a:rPr lang="en-US" sz="2137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Core Functional Modules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115550" y="2325957"/>
            <a:ext cx="7665958" cy="414338"/>
            <a:chOff x="0" y="0"/>
            <a:chExt cx="10221278" cy="5524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221276" cy="552450"/>
            </a:xfrm>
            <a:custGeom>
              <a:avLst/>
              <a:gdLst/>
              <a:ahLst/>
              <a:cxnLst/>
              <a:rect l="l" t="t" r="r" b="b"/>
              <a:pathLst>
                <a:path w="10221276" h="552450">
                  <a:moveTo>
                    <a:pt x="0" y="0"/>
                  </a:moveTo>
                  <a:lnTo>
                    <a:pt x="10221276" y="0"/>
                  </a:lnTo>
                  <a:lnTo>
                    <a:pt x="10221276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10506" b="-31050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0221278" cy="571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5"/>
                </a:lnSpc>
              </a:pPr>
              <a:r>
                <a:rPr lang="en-US" sz="2137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Technical Uniqueness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" y="7579519"/>
            <a:ext cx="228600" cy="228600"/>
            <a:chOff x="0" y="0"/>
            <a:chExt cx="304800" cy="3048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125" b="-31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2975" y="2397395"/>
            <a:ext cx="271462" cy="271462"/>
            <a:chOff x="0" y="0"/>
            <a:chExt cx="361950" cy="36195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0"/>
                  </a:moveTo>
                  <a:lnTo>
                    <a:pt x="361950" y="0"/>
                  </a:lnTo>
                  <a:lnTo>
                    <a:pt x="3619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631" b="-263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57300" y="2816495"/>
            <a:ext cx="7429500" cy="1031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Surplus Prediction Engine: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Evaluates historical meal logs, student attendance, and seasonal spikes to avert prep surplus before cooking starts.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7300" y="3745182"/>
            <a:ext cx="7429500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Dynamic Demand Forecasting: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Predicts exact portion quantities required for upcoming breakfast, lunch, and dinner cycles.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7300" y="4581001"/>
            <a:ext cx="7429500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AI Chef Guidance: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Calculates optimized raw ingredient prep weights, removing cook guesswork and lowering procurement expenses.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7300" y="5495401"/>
            <a:ext cx="7429500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Real-Time NGO Matching: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Instant broadcast matches edible excess with verified local shelters within safe shelf-life windows.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672638" y="2397395"/>
            <a:ext cx="300038" cy="271462"/>
            <a:chOff x="0" y="0"/>
            <a:chExt cx="400050" cy="36195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400050" cy="361950"/>
            </a:xfrm>
            <a:custGeom>
              <a:avLst/>
              <a:gdLst/>
              <a:ahLst/>
              <a:cxnLst/>
              <a:rect l="l" t="t" r="r" b="b"/>
              <a:pathLst>
                <a:path w="400050" h="361950">
                  <a:moveTo>
                    <a:pt x="0" y="0"/>
                  </a:moveTo>
                  <a:lnTo>
                    <a:pt x="400050" y="0"/>
                  </a:lnTo>
                  <a:lnTo>
                    <a:pt x="4000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631" b="-263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986962" y="2816495"/>
            <a:ext cx="7429500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Explainable Heuristics Engine: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Native statistical heuristics complemented by Gemini multimodal context generation.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86962" y="3602307"/>
            <a:ext cx="7429500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Offline-First Resilience: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Full Room SQLite local caching ensures uninterrupted operation in basement mess kitchens.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86962" y="4388120"/>
            <a:ext cx="7429500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Zero-Trust PIN Handshake: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SecureRandom 4-digit pickup PIN guarantees audited, scam-free food transfer.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86962" y="5173932"/>
            <a:ext cx="7429500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15-Sec CameraX Logging: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Allows busy kitchen operators to log surplus in under 15 seconds with photo verification.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7762" y="8162925"/>
            <a:ext cx="3238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Traditional Approach (Reactive):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14412" y="8453437"/>
            <a:ext cx="7815262" cy="60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7F1D1D"/>
                </a:solidFill>
                <a:latin typeface="Arimo"/>
                <a:ea typeface="Arimo"/>
                <a:cs typeface="Arimo"/>
                <a:sym typeface="Arimo"/>
              </a:rPr>
              <a:t>Waits until meals are fully cooked and wasted, creating massive financial loss and logistical pressure during disposal.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91675" y="8162925"/>
            <a:ext cx="33670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166534"/>
                </a:solidFill>
                <a:latin typeface="Arimo Bold"/>
                <a:ea typeface="Arimo Bold"/>
                <a:cs typeface="Arimo Bold"/>
                <a:sym typeface="Arimo Bold"/>
              </a:rPr>
              <a:t>FoodGuard Approach (Proactive):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58325" y="8453437"/>
            <a:ext cx="7815262" cy="60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14532D"/>
                </a:solidFill>
                <a:latin typeface="Arimo"/>
                <a:ea typeface="Arimo"/>
                <a:cs typeface="Arimo"/>
                <a:sym typeface="Arimo"/>
              </a:rPr>
              <a:t>Operates at the </a:t>
            </a:r>
            <a:r>
              <a:rPr lang="en-US" sz="1462" i="1">
                <a:solidFill>
                  <a:srgbClr val="14532D"/>
                </a:solidFill>
                <a:latin typeface="Arimo Italics"/>
                <a:ea typeface="Arimo Italics"/>
                <a:cs typeface="Arimo Italics"/>
                <a:sym typeface="Arimo Italics"/>
              </a:rPr>
              <a:t>pre-cooking stage</a:t>
            </a:r>
            <a:r>
              <a:rPr lang="en-US" sz="1462">
                <a:solidFill>
                  <a:srgbClr val="14532D"/>
                </a:solidFill>
                <a:latin typeface="Arimo"/>
                <a:ea typeface="Arimo"/>
                <a:cs typeface="Arimo"/>
                <a:sym typeface="Arimo"/>
              </a:rPr>
              <a:t> to stop waste at the source, while managing automated instant rescue when excess is unavoidable.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2975" y="2702195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2975" y="3616595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2975" y="4595289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2975" y="5381101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72638" y="2702195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72638" y="3488007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72638" y="4273820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672638" y="5059632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914400" y="8215312"/>
            <a:ext cx="200025" cy="200025"/>
            <a:chOff x="0" y="0"/>
            <a:chExt cx="266700" cy="266700"/>
          </a:xfrm>
        </p:grpSpPr>
        <p:sp>
          <p:nvSpPr>
            <p:cNvPr id="51" name="Freeform 51" descr="image.png"/>
            <p:cNvSpPr/>
            <p:nvPr/>
          </p:nvSpPr>
          <p:spPr>
            <a:xfrm>
              <a:off x="0" y="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358312" y="8215312"/>
            <a:ext cx="200025" cy="200025"/>
            <a:chOff x="0" y="0"/>
            <a:chExt cx="266700" cy="266700"/>
          </a:xfrm>
        </p:grpSpPr>
        <p:sp>
          <p:nvSpPr>
            <p:cNvPr id="53" name="Freeform 53" descr="image.png"/>
            <p:cNvSpPr/>
            <p:nvPr/>
          </p:nvSpPr>
          <p:spPr>
            <a:xfrm>
              <a:off x="0" y="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3889358" y="563757"/>
            <a:ext cx="10252109" cy="643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3"/>
              </a:lnSpc>
            </a:pPr>
            <a:r>
              <a:rPr lang="en-US" sz="3969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Proposed Solution &amp; </a:t>
            </a:r>
            <a:r>
              <a:rPr lang="en-US" sz="3969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Core Capabilities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33854" y="186003"/>
            <a:ext cx="1246891" cy="1316042"/>
            <a:chOff x="0" y="0"/>
            <a:chExt cx="2322068" cy="245084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322068" cy="2450846"/>
            </a:xfrm>
            <a:custGeom>
              <a:avLst/>
              <a:gdLst/>
              <a:ahLst/>
              <a:cxnLst/>
              <a:rect l="l" t="t" r="r" b="b"/>
              <a:pathLst>
                <a:path w="2322068" h="2450846">
                  <a:moveTo>
                    <a:pt x="0" y="0"/>
                  </a:moveTo>
                  <a:lnTo>
                    <a:pt x="2322068" y="0"/>
                  </a:lnTo>
                  <a:lnTo>
                    <a:pt x="2322068" y="2450846"/>
                  </a:lnTo>
                  <a:lnTo>
                    <a:pt x="0" y="2450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772" r="-277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5275052" y="221504"/>
            <a:ext cx="2470023" cy="1194816"/>
            <a:chOff x="0" y="0"/>
            <a:chExt cx="3293364" cy="159308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293364" cy="1593088"/>
            </a:xfrm>
            <a:custGeom>
              <a:avLst/>
              <a:gdLst/>
              <a:ahLst/>
              <a:cxnLst/>
              <a:rect l="l" t="t" r="r" b="b"/>
              <a:pathLst>
                <a:path w="3293364" h="1593088">
                  <a:moveTo>
                    <a:pt x="0" y="0"/>
                  </a:moveTo>
                  <a:lnTo>
                    <a:pt x="3293364" y="0"/>
                  </a:lnTo>
                  <a:lnTo>
                    <a:pt x="3293364" y="1593088"/>
                  </a:lnTo>
                  <a:lnTo>
                    <a:pt x="0" y="159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451" b="-4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189356" y="326069"/>
            <a:ext cx="2470023" cy="1194816"/>
            <a:chOff x="0" y="0"/>
            <a:chExt cx="3293364" cy="159308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293364" cy="1593088"/>
            </a:xfrm>
            <a:custGeom>
              <a:avLst/>
              <a:gdLst/>
              <a:ahLst/>
              <a:cxnLst/>
              <a:rect l="l" t="t" r="r" b="b"/>
              <a:pathLst>
                <a:path w="3293364" h="1593088">
                  <a:moveTo>
                    <a:pt x="0" y="0"/>
                  </a:moveTo>
                  <a:lnTo>
                    <a:pt x="3293364" y="0"/>
                  </a:lnTo>
                  <a:lnTo>
                    <a:pt x="3293364" y="1593088"/>
                  </a:lnTo>
                  <a:lnTo>
                    <a:pt x="0" y="159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451" b="-4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2925" y="1928812"/>
            <a:ext cx="4000500" cy="2828925"/>
            <a:chOff x="0" y="0"/>
            <a:chExt cx="5334000" cy="37719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5334000" cy="3771900"/>
            </a:xfrm>
            <a:custGeom>
              <a:avLst/>
              <a:gdLst/>
              <a:ahLst/>
              <a:cxnLst/>
              <a:rect l="l" t="t" r="r" b="b"/>
              <a:pathLst>
                <a:path w="5334000" h="3771900">
                  <a:moveTo>
                    <a:pt x="0" y="0"/>
                  </a:moveTo>
                  <a:lnTo>
                    <a:pt x="5334000" y="0"/>
                  </a:lnTo>
                  <a:lnTo>
                    <a:pt x="5334000" y="3771900"/>
                  </a:lnTo>
                  <a:lnTo>
                    <a:pt x="0" y="377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42925" y="5033667"/>
            <a:ext cx="4000500" cy="2457450"/>
            <a:chOff x="0" y="0"/>
            <a:chExt cx="5334000" cy="32766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5334000" cy="3276600"/>
            </a:xfrm>
            <a:custGeom>
              <a:avLst/>
              <a:gdLst/>
              <a:ahLst/>
              <a:cxnLst/>
              <a:rect l="l" t="t" r="r" b="b"/>
              <a:pathLst>
                <a:path w="5334000" h="3276600">
                  <a:moveTo>
                    <a:pt x="0" y="0"/>
                  </a:moveTo>
                  <a:lnTo>
                    <a:pt x="5334000" y="0"/>
                  </a:lnTo>
                  <a:lnTo>
                    <a:pt x="5334000" y="3276600"/>
                  </a:lnTo>
                  <a:lnTo>
                    <a:pt x="0" y="32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90" b="-2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2925" y="7767037"/>
            <a:ext cx="4000500" cy="1705566"/>
            <a:chOff x="0" y="0"/>
            <a:chExt cx="5334000" cy="2274087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334000" cy="2274062"/>
            </a:xfrm>
            <a:custGeom>
              <a:avLst/>
              <a:gdLst/>
              <a:ahLst/>
              <a:cxnLst/>
              <a:rect l="l" t="t" r="r" b="b"/>
              <a:pathLst>
                <a:path w="5334000" h="2274062">
                  <a:moveTo>
                    <a:pt x="0" y="0"/>
                  </a:moveTo>
                  <a:lnTo>
                    <a:pt x="5334000" y="0"/>
                  </a:lnTo>
                  <a:lnTo>
                    <a:pt x="5334000" y="2274062"/>
                  </a:lnTo>
                  <a:lnTo>
                    <a:pt x="0" y="227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61" b="-26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72025" y="1928812"/>
            <a:ext cx="8743950" cy="2028825"/>
            <a:chOff x="0" y="0"/>
            <a:chExt cx="11658600" cy="27051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1658600" cy="2705100"/>
            </a:xfrm>
            <a:custGeom>
              <a:avLst/>
              <a:gdLst/>
              <a:ahLst/>
              <a:cxnLst/>
              <a:rect l="l" t="t" r="r" b="b"/>
              <a:pathLst>
                <a:path w="11658600" h="2705100">
                  <a:moveTo>
                    <a:pt x="0" y="0"/>
                  </a:moveTo>
                  <a:lnTo>
                    <a:pt x="11658600" y="0"/>
                  </a:lnTo>
                  <a:lnTo>
                    <a:pt x="11658600" y="2705100"/>
                  </a:lnTo>
                  <a:lnTo>
                    <a:pt x="0" y="270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12" r="-141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72025" y="5288156"/>
            <a:ext cx="8743950" cy="2282428"/>
            <a:chOff x="0" y="0"/>
            <a:chExt cx="11658600" cy="3043238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1658600" cy="3043174"/>
            </a:xfrm>
            <a:custGeom>
              <a:avLst/>
              <a:gdLst/>
              <a:ahLst/>
              <a:cxnLst/>
              <a:rect l="l" t="t" r="r" b="b"/>
              <a:pathLst>
                <a:path w="11658600" h="3043174">
                  <a:moveTo>
                    <a:pt x="0" y="0"/>
                  </a:moveTo>
                  <a:lnTo>
                    <a:pt x="11658600" y="0"/>
                  </a:lnTo>
                  <a:lnTo>
                    <a:pt x="11658600" y="3043174"/>
                  </a:lnTo>
                  <a:lnTo>
                    <a:pt x="0" y="3043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" r="-248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772025" y="8901112"/>
            <a:ext cx="8743950" cy="571500"/>
            <a:chOff x="0" y="0"/>
            <a:chExt cx="11658600" cy="7620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1658600" cy="762000"/>
            </a:xfrm>
            <a:custGeom>
              <a:avLst/>
              <a:gdLst/>
              <a:ahLst/>
              <a:cxnLst/>
              <a:rect l="l" t="t" r="r" b="b"/>
              <a:pathLst>
                <a:path w="11658600" h="762000">
                  <a:moveTo>
                    <a:pt x="0" y="0"/>
                  </a:moveTo>
                  <a:lnTo>
                    <a:pt x="11658600" y="0"/>
                  </a:lnTo>
                  <a:lnTo>
                    <a:pt x="116586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617" r="-16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744575" y="1928812"/>
            <a:ext cx="4000500" cy="1550641"/>
            <a:chOff x="0" y="0"/>
            <a:chExt cx="5334000" cy="2067522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5334000" cy="2067560"/>
            </a:xfrm>
            <a:custGeom>
              <a:avLst/>
              <a:gdLst/>
              <a:ahLst/>
              <a:cxnLst/>
              <a:rect l="l" t="t" r="r" b="b"/>
              <a:pathLst>
                <a:path w="5334000" h="2067560">
                  <a:moveTo>
                    <a:pt x="0" y="0"/>
                  </a:moveTo>
                  <a:lnTo>
                    <a:pt x="5334000" y="0"/>
                  </a:lnTo>
                  <a:lnTo>
                    <a:pt x="5334000" y="2067560"/>
                  </a:lnTo>
                  <a:lnTo>
                    <a:pt x="0" y="2067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16" b="-2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744575" y="3650904"/>
            <a:ext cx="4000500" cy="1493491"/>
            <a:chOff x="0" y="0"/>
            <a:chExt cx="5334000" cy="1991322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5334000" cy="1991360"/>
            </a:xfrm>
            <a:custGeom>
              <a:avLst/>
              <a:gdLst/>
              <a:ahLst/>
              <a:cxnLst/>
              <a:rect l="l" t="t" r="r" b="b"/>
              <a:pathLst>
                <a:path w="5334000" h="1991360">
                  <a:moveTo>
                    <a:pt x="0" y="0"/>
                  </a:moveTo>
                  <a:lnTo>
                    <a:pt x="5334000" y="0"/>
                  </a:lnTo>
                  <a:lnTo>
                    <a:pt x="5334000" y="1991360"/>
                  </a:lnTo>
                  <a:lnTo>
                    <a:pt x="0" y="1991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702" b="-7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781399" y="5306962"/>
            <a:ext cx="4000500" cy="2672648"/>
            <a:chOff x="0" y="0"/>
            <a:chExt cx="5334000" cy="3563531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5334000" cy="3563582"/>
            </a:xfrm>
            <a:custGeom>
              <a:avLst/>
              <a:gdLst/>
              <a:ahLst/>
              <a:cxnLst/>
              <a:rect l="l" t="t" r="r" b="b"/>
              <a:pathLst>
                <a:path w="5334000" h="3563582">
                  <a:moveTo>
                    <a:pt x="0" y="0"/>
                  </a:moveTo>
                  <a:lnTo>
                    <a:pt x="5334000" y="0"/>
                  </a:lnTo>
                  <a:lnTo>
                    <a:pt x="5334000" y="3563582"/>
                  </a:lnTo>
                  <a:lnTo>
                    <a:pt x="0" y="3563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8850" b="-2884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00625" y="2743200"/>
            <a:ext cx="2666848" cy="985838"/>
            <a:chOff x="0" y="0"/>
            <a:chExt cx="3555797" cy="13144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3555746" cy="1314450"/>
            </a:xfrm>
            <a:custGeom>
              <a:avLst/>
              <a:gdLst/>
              <a:ahLst/>
              <a:cxnLst/>
              <a:rect l="l" t="t" r="r" b="b"/>
              <a:pathLst>
                <a:path w="3555746" h="1314450">
                  <a:moveTo>
                    <a:pt x="0" y="0"/>
                  </a:moveTo>
                  <a:lnTo>
                    <a:pt x="3555746" y="0"/>
                  </a:lnTo>
                  <a:lnTo>
                    <a:pt x="3555746" y="1314450"/>
                  </a:lnTo>
                  <a:lnTo>
                    <a:pt x="0" y="131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895" r="-89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10348" y="2743200"/>
            <a:ext cx="2667076" cy="985838"/>
            <a:chOff x="0" y="0"/>
            <a:chExt cx="3556102" cy="131445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3556127" cy="1314450"/>
            </a:xfrm>
            <a:custGeom>
              <a:avLst/>
              <a:gdLst/>
              <a:ahLst/>
              <a:cxnLst/>
              <a:rect l="l" t="t" r="r" b="b"/>
              <a:pathLst>
                <a:path w="3556127" h="1314450">
                  <a:moveTo>
                    <a:pt x="0" y="0"/>
                  </a:moveTo>
                  <a:lnTo>
                    <a:pt x="3556127" y="0"/>
                  </a:lnTo>
                  <a:lnTo>
                    <a:pt x="3556127" y="1314450"/>
                  </a:lnTo>
                  <a:lnTo>
                    <a:pt x="0" y="131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891" r="-8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620299" y="2743200"/>
            <a:ext cx="2667076" cy="985838"/>
            <a:chOff x="0" y="0"/>
            <a:chExt cx="3556102" cy="131445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3556127" cy="1314450"/>
            </a:xfrm>
            <a:custGeom>
              <a:avLst/>
              <a:gdLst/>
              <a:ahLst/>
              <a:cxnLst/>
              <a:rect l="l" t="t" r="r" b="b"/>
              <a:pathLst>
                <a:path w="3556127" h="1314450">
                  <a:moveTo>
                    <a:pt x="0" y="0"/>
                  </a:moveTo>
                  <a:lnTo>
                    <a:pt x="3556127" y="0"/>
                  </a:lnTo>
                  <a:lnTo>
                    <a:pt x="3556127" y="1314450"/>
                  </a:lnTo>
                  <a:lnTo>
                    <a:pt x="0" y="131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891" r="-8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000625" y="6102544"/>
            <a:ext cx="1565824" cy="1239441"/>
            <a:chOff x="0" y="0"/>
            <a:chExt cx="2087766" cy="1652588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2087753" cy="1652524"/>
            </a:xfrm>
            <a:custGeom>
              <a:avLst/>
              <a:gdLst/>
              <a:ahLst/>
              <a:cxnLst/>
              <a:rect l="l" t="t" r="r" b="b"/>
              <a:pathLst>
                <a:path w="2087753" h="1652524">
                  <a:moveTo>
                    <a:pt x="0" y="0"/>
                  </a:moveTo>
                  <a:lnTo>
                    <a:pt x="2087753" y="0"/>
                  </a:lnTo>
                  <a:lnTo>
                    <a:pt x="2087753" y="1652524"/>
                  </a:lnTo>
                  <a:lnTo>
                    <a:pt x="0" y="165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950" r="-951" b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80749" y="6102544"/>
            <a:ext cx="1565824" cy="1239441"/>
            <a:chOff x="0" y="0"/>
            <a:chExt cx="2087766" cy="1652588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2087753" cy="1652524"/>
            </a:xfrm>
            <a:custGeom>
              <a:avLst/>
              <a:gdLst/>
              <a:ahLst/>
              <a:cxnLst/>
              <a:rect l="l" t="t" r="r" b="b"/>
              <a:pathLst>
                <a:path w="2087753" h="1652524">
                  <a:moveTo>
                    <a:pt x="0" y="0"/>
                  </a:moveTo>
                  <a:lnTo>
                    <a:pt x="2087753" y="0"/>
                  </a:lnTo>
                  <a:lnTo>
                    <a:pt x="2087753" y="1652524"/>
                  </a:lnTo>
                  <a:lnTo>
                    <a:pt x="0" y="165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950" r="-951" b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360864" y="6102544"/>
            <a:ext cx="1566043" cy="1239441"/>
            <a:chOff x="0" y="0"/>
            <a:chExt cx="2088058" cy="1652588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2088007" cy="1652524"/>
            </a:xfrm>
            <a:custGeom>
              <a:avLst/>
              <a:gdLst/>
              <a:ahLst/>
              <a:cxnLst/>
              <a:rect l="l" t="t" r="r" b="b"/>
              <a:pathLst>
                <a:path w="2088007" h="1652524">
                  <a:moveTo>
                    <a:pt x="0" y="0"/>
                  </a:moveTo>
                  <a:lnTo>
                    <a:pt x="2088007" y="0"/>
                  </a:lnTo>
                  <a:lnTo>
                    <a:pt x="2088007" y="1652524"/>
                  </a:lnTo>
                  <a:lnTo>
                    <a:pt x="0" y="165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943" r="-945" b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41207" y="6102544"/>
            <a:ext cx="1565824" cy="1239441"/>
            <a:chOff x="0" y="0"/>
            <a:chExt cx="2087766" cy="1652588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2087753" cy="1652524"/>
            </a:xfrm>
            <a:custGeom>
              <a:avLst/>
              <a:gdLst/>
              <a:ahLst/>
              <a:cxnLst/>
              <a:rect l="l" t="t" r="r" b="b"/>
              <a:pathLst>
                <a:path w="2087753" h="1652524">
                  <a:moveTo>
                    <a:pt x="0" y="0"/>
                  </a:moveTo>
                  <a:lnTo>
                    <a:pt x="2087753" y="0"/>
                  </a:lnTo>
                  <a:lnTo>
                    <a:pt x="2087753" y="1652524"/>
                  </a:lnTo>
                  <a:lnTo>
                    <a:pt x="0" y="165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950" r="-951" b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721332" y="6102544"/>
            <a:ext cx="1565824" cy="1239441"/>
            <a:chOff x="0" y="0"/>
            <a:chExt cx="2087766" cy="1652588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2087753" cy="1652524"/>
            </a:xfrm>
            <a:custGeom>
              <a:avLst/>
              <a:gdLst/>
              <a:ahLst/>
              <a:cxnLst/>
              <a:rect l="l" t="t" r="r" b="b"/>
              <a:pathLst>
                <a:path w="2087753" h="1652524">
                  <a:moveTo>
                    <a:pt x="0" y="0"/>
                  </a:moveTo>
                  <a:lnTo>
                    <a:pt x="2087753" y="0"/>
                  </a:lnTo>
                  <a:lnTo>
                    <a:pt x="2087753" y="1652524"/>
                  </a:lnTo>
                  <a:lnTo>
                    <a:pt x="0" y="165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950" r="-951" b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101761" y="6096742"/>
            <a:ext cx="1728788" cy="385762"/>
            <a:chOff x="0" y="0"/>
            <a:chExt cx="2305050" cy="514350"/>
          </a:xfrm>
        </p:grpSpPr>
        <p:sp>
          <p:nvSpPr>
            <p:cNvPr id="37" name="Freeform 37" descr="image.png"/>
            <p:cNvSpPr/>
            <p:nvPr/>
          </p:nvSpPr>
          <p:spPr>
            <a:xfrm>
              <a:off x="0" y="0"/>
              <a:ext cx="2305050" cy="514350"/>
            </a:xfrm>
            <a:custGeom>
              <a:avLst/>
              <a:gdLst/>
              <a:ahLst/>
              <a:cxnLst/>
              <a:rect l="l" t="t" r="r" b="b"/>
              <a:pathLst>
                <a:path w="2305050" h="514350">
                  <a:moveTo>
                    <a:pt x="0" y="0"/>
                  </a:moveTo>
                  <a:lnTo>
                    <a:pt x="2305050" y="0"/>
                  </a:lnTo>
                  <a:lnTo>
                    <a:pt x="23050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t="-1009" b="-1007"/>
              </a:stretch>
            </a:blipFill>
          </p:spPr>
          <p:txBody>
            <a:bodyPr/>
            <a:lstStyle/>
            <a:p>
              <a:r>
                <a:rPr lang="en-US" dirty="0"/>
                <a:t>       </a:t>
              </a:r>
              <a:endParaRPr lang="en-IN" dirty="0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5894135" y="6001645"/>
            <a:ext cx="1728788" cy="385762"/>
            <a:chOff x="0" y="0"/>
            <a:chExt cx="2305050" cy="514350"/>
          </a:xfrm>
        </p:grpSpPr>
        <p:sp>
          <p:nvSpPr>
            <p:cNvPr id="39" name="Freeform 39" descr="image.png"/>
            <p:cNvSpPr/>
            <p:nvPr/>
          </p:nvSpPr>
          <p:spPr>
            <a:xfrm>
              <a:off x="0" y="0"/>
              <a:ext cx="2305050" cy="514350"/>
            </a:xfrm>
            <a:custGeom>
              <a:avLst/>
              <a:gdLst/>
              <a:ahLst/>
              <a:cxnLst/>
              <a:rect l="l" t="t" r="r" b="b"/>
              <a:pathLst>
                <a:path w="2305050" h="514350">
                  <a:moveTo>
                    <a:pt x="0" y="0"/>
                  </a:moveTo>
                  <a:lnTo>
                    <a:pt x="2305050" y="0"/>
                  </a:lnTo>
                  <a:lnTo>
                    <a:pt x="23050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t="-1009" b="-100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083902" y="6497831"/>
            <a:ext cx="1728788" cy="385762"/>
            <a:chOff x="0" y="0"/>
            <a:chExt cx="2305050" cy="51435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2305050" cy="514350"/>
            </a:xfrm>
            <a:custGeom>
              <a:avLst/>
              <a:gdLst/>
              <a:ahLst/>
              <a:cxnLst/>
              <a:rect l="l" t="t" r="r" b="b"/>
              <a:pathLst>
                <a:path w="2305050" h="514350">
                  <a:moveTo>
                    <a:pt x="0" y="0"/>
                  </a:moveTo>
                  <a:lnTo>
                    <a:pt x="2305050" y="0"/>
                  </a:lnTo>
                  <a:lnTo>
                    <a:pt x="23050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t="-1009" b="-100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5894135" y="6497831"/>
            <a:ext cx="1728788" cy="385762"/>
            <a:chOff x="0" y="0"/>
            <a:chExt cx="2305050" cy="514350"/>
          </a:xfrm>
        </p:grpSpPr>
        <p:sp>
          <p:nvSpPr>
            <p:cNvPr id="43" name="Freeform 43" descr="image.png"/>
            <p:cNvSpPr/>
            <p:nvPr/>
          </p:nvSpPr>
          <p:spPr>
            <a:xfrm>
              <a:off x="0" y="0"/>
              <a:ext cx="2305050" cy="514350"/>
            </a:xfrm>
            <a:custGeom>
              <a:avLst/>
              <a:gdLst/>
              <a:ahLst/>
              <a:cxnLst/>
              <a:rect l="l" t="t" r="r" b="b"/>
              <a:pathLst>
                <a:path w="2305050" h="514350">
                  <a:moveTo>
                    <a:pt x="0" y="0"/>
                  </a:moveTo>
                  <a:lnTo>
                    <a:pt x="2305050" y="0"/>
                  </a:lnTo>
                  <a:lnTo>
                    <a:pt x="23050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t="-1009" b="-100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069117" y="6999135"/>
            <a:ext cx="1728788" cy="385762"/>
            <a:chOff x="0" y="0"/>
            <a:chExt cx="2305050" cy="514350"/>
          </a:xfrm>
        </p:grpSpPr>
        <p:sp>
          <p:nvSpPr>
            <p:cNvPr id="45" name="Freeform 45" descr="image.png"/>
            <p:cNvSpPr/>
            <p:nvPr/>
          </p:nvSpPr>
          <p:spPr>
            <a:xfrm>
              <a:off x="0" y="0"/>
              <a:ext cx="2305050" cy="514350"/>
            </a:xfrm>
            <a:custGeom>
              <a:avLst/>
              <a:gdLst/>
              <a:ahLst/>
              <a:cxnLst/>
              <a:rect l="l" t="t" r="r" b="b"/>
              <a:pathLst>
                <a:path w="2305050" h="514350">
                  <a:moveTo>
                    <a:pt x="0" y="0"/>
                  </a:moveTo>
                  <a:lnTo>
                    <a:pt x="2305050" y="0"/>
                  </a:lnTo>
                  <a:lnTo>
                    <a:pt x="23050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t="-1009" b="-100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872526" y="6955594"/>
            <a:ext cx="1728788" cy="385762"/>
            <a:chOff x="0" y="0"/>
            <a:chExt cx="2305050" cy="514350"/>
          </a:xfrm>
        </p:grpSpPr>
        <p:sp>
          <p:nvSpPr>
            <p:cNvPr id="47" name="Freeform 47" descr="image.png"/>
            <p:cNvSpPr/>
            <p:nvPr/>
          </p:nvSpPr>
          <p:spPr>
            <a:xfrm>
              <a:off x="0" y="0"/>
              <a:ext cx="2305050" cy="514350"/>
            </a:xfrm>
            <a:custGeom>
              <a:avLst/>
              <a:gdLst/>
              <a:ahLst/>
              <a:cxnLst/>
              <a:rect l="l" t="t" r="r" b="b"/>
              <a:pathLst>
                <a:path w="2305050" h="514350">
                  <a:moveTo>
                    <a:pt x="0" y="0"/>
                  </a:moveTo>
                  <a:lnTo>
                    <a:pt x="2305050" y="0"/>
                  </a:lnTo>
                  <a:lnTo>
                    <a:pt x="23050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t="-1009" b="-100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083902" y="7458655"/>
            <a:ext cx="1728788" cy="385762"/>
            <a:chOff x="0" y="0"/>
            <a:chExt cx="2305050" cy="514350"/>
          </a:xfrm>
        </p:grpSpPr>
        <p:sp>
          <p:nvSpPr>
            <p:cNvPr id="49" name="Freeform 49" descr="image.png"/>
            <p:cNvSpPr/>
            <p:nvPr/>
          </p:nvSpPr>
          <p:spPr>
            <a:xfrm>
              <a:off x="0" y="0"/>
              <a:ext cx="2305050" cy="514350"/>
            </a:xfrm>
            <a:custGeom>
              <a:avLst/>
              <a:gdLst/>
              <a:ahLst/>
              <a:cxnLst/>
              <a:rect l="l" t="t" r="r" b="b"/>
              <a:pathLst>
                <a:path w="2305050" h="514350">
                  <a:moveTo>
                    <a:pt x="0" y="0"/>
                  </a:moveTo>
                  <a:lnTo>
                    <a:pt x="2305050" y="0"/>
                  </a:lnTo>
                  <a:lnTo>
                    <a:pt x="23050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t="-1009" b="-100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5894135" y="7430365"/>
            <a:ext cx="1728788" cy="385762"/>
            <a:chOff x="0" y="0"/>
            <a:chExt cx="2305050" cy="514350"/>
          </a:xfrm>
        </p:grpSpPr>
        <p:sp>
          <p:nvSpPr>
            <p:cNvPr id="51" name="Freeform 51" descr="image.png"/>
            <p:cNvSpPr/>
            <p:nvPr/>
          </p:nvSpPr>
          <p:spPr>
            <a:xfrm>
              <a:off x="0" y="0"/>
              <a:ext cx="2305050" cy="514350"/>
            </a:xfrm>
            <a:custGeom>
              <a:avLst/>
              <a:gdLst/>
              <a:ahLst/>
              <a:cxnLst/>
              <a:rect l="l" t="t" r="r" b="b"/>
              <a:pathLst>
                <a:path w="2305050" h="514350">
                  <a:moveTo>
                    <a:pt x="0" y="0"/>
                  </a:moveTo>
                  <a:lnTo>
                    <a:pt x="2305050" y="0"/>
                  </a:lnTo>
                  <a:lnTo>
                    <a:pt x="23050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t="-1009" b="-100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54945" y="6259706"/>
            <a:ext cx="257175" cy="257175"/>
            <a:chOff x="0" y="0"/>
            <a:chExt cx="342900" cy="342900"/>
          </a:xfrm>
        </p:grpSpPr>
        <p:sp>
          <p:nvSpPr>
            <p:cNvPr id="53" name="Freeform 53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335069" y="6259706"/>
            <a:ext cx="257175" cy="257175"/>
            <a:chOff x="0" y="0"/>
            <a:chExt cx="342900" cy="342900"/>
          </a:xfrm>
        </p:grpSpPr>
        <p:sp>
          <p:nvSpPr>
            <p:cNvPr id="55" name="Freeform 55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015193" y="6259706"/>
            <a:ext cx="257175" cy="257175"/>
            <a:chOff x="0" y="0"/>
            <a:chExt cx="342900" cy="342900"/>
          </a:xfrm>
        </p:grpSpPr>
        <p:sp>
          <p:nvSpPr>
            <p:cNvPr id="57" name="Freeform 57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695537" y="6259706"/>
            <a:ext cx="257175" cy="257175"/>
            <a:chOff x="0" y="0"/>
            <a:chExt cx="342900" cy="342900"/>
          </a:xfrm>
        </p:grpSpPr>
        <p:sp>
          <p:nvSpPr>
            <p:cNvPr id="59" name="Freeform 59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375652" y="6259706"/>
            <a:ext cx="257175" cy="257175"/>
            <a:chOff x="0" y="0"/>
            <a:chExt cx="342900" cy="342900"/>
          </a:xfrm>
        </p:grpSpPr>
        <p:sp>
          <p:nvSpPr>
            <p:cNvPr id="61" name="Freeform 61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42925" y="9472612"/>
            <a:ext cx="17202150" cy="385762"/>
            <a:chOff x="0" y="0"/>
            <a:chExt cx="22936200" cy="514350"/>
          </a:xfrm>
        </p:grpSpPr>
        <p:sp>
          <p:nvSpPr>
            <p:cNvPr id="63" name="Freeform 63" descr="image.png"/>
            <p:cNvSpPr/>
            <p:nvPr/>
          </p:nvSpPr>
          <p:spPr>
            <a:xfrm>
              <a:off x="0" y="0"/>
              <a:ext cx="22936200" cy="514350"/>
            </a:xfrm>
            <a:custGeom>
              <a:avLst/>
              <a:gdLst/>
              <a:ahLst/>
              <a:cxnLst/>
              <a:rect l="l" t="t" r="r" b="b"/>
              <a:pathLst>
                <a:path w="22936200" h="514350">
                  <a:moveTo>
                    <a:pt x="0" y="0"/>
                  </a:moveTo>
                  <a:lnTo>
                    <a:pt x="22936200" y="0"/>
                  </a:lnTo>
                  <a:lnTo>
                    <a:pt x="229362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-166" r="-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78706" y="2100262"/>
            <a:ext cx="3264694" cy="314325"/>
            <a:chOff x="0" y="0"/>
            <a:chExt cx="4352925" cy="4191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352924" cy="419100"/>
            </a:xfrm>
            <a:custGeom>
              <a:avLst/>
              <a:gdLst/>
              <a:ahLst/>
              <a:cxnLst/>
              <a:rect l="l" t="t" r="r" b="b"/>
              <a:pathLst>
                <a:path w="4352924" h="419100">
                  <a:moveTo>
                    <a:pt x="0" y="0"/>
                  </a:moveTo>
                  <a:lnTo>
                    <a:pt x="4352924" y="0"/>
                  </a:lnTo>
                  <a:lnTo>
                    <a:pt x="4352924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33">
                <a:alphaModFix amt="0"/>
              </a:blip>
              <a:stretch>
                <a:fillRect t="-152378" b="-15237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4352925" cy="428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OUR UNIQUENESS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42950" y="2471738"/>
            <a:ext cx="3600450" cy="28575"/>
            <a:chOff x="0" y="0"/>
            <a:chExt cx="4800600" cy="381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800600" cy="38100"/>
            </a:xfrm>
            <a:custGeom>
              <a:avLst/>
              <a:gdLst/>
              <a:ahLst/>
              <a:cxnLst/>
              <a:rect l="l" t="t" r="r" b="b"/>
              <a:pathLst>
                <a:path w="4800600" h="38100">
                  <a:moveTo>
                    <a:pt x="0" y="0"/>
                  </a:moveTo>
                  <a:lnTo>
                    <a:pt x="4800600" y="0"/>
                  </a:lnTo>
                  <a:lnTo>
                    <a:pt x="4800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78706" y="5233692"/>
            <a:ext cx="3236119" cy="314325"/>
            <a:chOff x="0" y="0"/>
            <a:chExt cx="4314825" cy="4191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314824" cy="419100"/>
            </a:xfrm>
            <a:custGeom>
              <a:avLst/>
              <a:gdLst/>
              <a:ahLst/>
              <a:cxnLst/>
              <a:rect l="l" t="t" r="r" b="b"/>
              <a:pathLst>
                <a:path w="4314824" h="419100">
                  <a:moveTo>
                    <a:pt x="0" y="0"/>
                  </a:moveTo>
                  <a:lnTo>
                    <a:pt x="4314824" y="0"/>
                  </a:lnTo>
                  <a:lnTo>
                    <a:pt x="4314824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33">
                <a:alphaModFix amt="0"/>
              </a:blip>
              <a:stretch>
                <a:fillRect t="-150607" b="-15060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4314825" cy="428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MEAL STATE LIFECYCLE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71525" y="5605167"/>
            <a:ext cx="3543300" cy="28575"/>
            <a:chOff x="0" y="0"/>
            <a:chExt cx="4724400" cy="381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724400" cy="38100"/>
            </a:xfrm>
            <a:custGeom>
              <a:avLst/>
              <a:gdLst/>
              <a:ahLst/>
              <a:cxnLst/>
              <a:rect l="l" t="t" r="r" b="b"/>
              <a:pathLst>
                <a:path w="4724400" h="38100">
                  <a:moveTo>
                    <a:pt x="0" y="0"/>
                  </a:moveTo>
                  <a:lnTo>
                    <a:pt x="4724400" y="0"/>
                  </a:lnTo>
                  <a:lnTo>
                    <a:pt x="472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50131" y="7938487"/>
            <a:ext cx="3293269" cy="314325"/>
            <a:chOff x="0" y="0"/>
            <a:chExt cx="4391025" cy="4191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391024" cy="419100"/>
            </a:xfrm>
            <a:custGeom>
              <a:avLst/>
              <a:gdLst/>
              <a:ahLst/>
              <a:cxnLst/>
              <a:rect l="l" t="t" r="r" b="b"/>
              <a:pathLst>
                <a:path w="4391024" h="419100">
                  <a:moveTo>
                    <a:pt x="0" y="0"/>
                  </a:moveTo>
                  <a:lnTo>
                    <a:pt x="4391024" y="0"/>
                  </a:lnTo>
                  <a:lnTo>
                    <a:pt x="4391024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33">
                <a:alphaModFix amt="0"/>
              </a:blip>
              <a:stretch>
                <a:fillRect t="-154150" b="-15415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4391025" cy="428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SECURITY &amp; TRUST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42950" y="8309962"/>
            <a:ext cx="3600450" cy="28575"/>
            <a:chOff x="0" y="0"/>
            <a:chExt cx="4800600" cy="381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00600" cy="38100"/>
            </a:xfrm>
            <a:custGeom>
              <a:avLst/>
              <a:gdLst/>
              <a:ahLst/>
              <a:cxnLst/>
              <a:rect l="l" t="t" r="r" b="b"/>
              <a:pathLst>
                <a:path w="4800600" h="38100">
                  <a:moveTo>
                    <a:pt x="0" y="0"/>
                  </a:moveTo>
                  <a:lnTo>
                    <a:pt x="4800600" y="0"/>
                  </a:lnTo>
                  <a:lnTo>
                    <a:pt x="4800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350669" y="2157412"/>
            <a:ext cx="7936706" cy="300038"/>
            <a:chOff x="0" y="0"/>
            <a:chExt cx="10582275" cy="40005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582274" cy="400050"/>
            </a:xfrm>
            <a:custGeom>
              <a:avLst/>
              <a:gdLst/>
              <a:ahLst/>
              <a:cxnLst/>
              <a:rect l="l" t="t" r="r" b="b"/>
              <a:pathLst>
                <a:path w="10582274" h="400050">
                  <a:moveTo>
                    <a:pt x="0" y="0"/>
                  </a:moveTo>
                  <a:lnTo>
                    <a:pt x="10582274" y="0"/>
                  </a:lnTo>
                  <a:lnTo>
                    <a:pt x="1058227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33">
                <a:alphaModFix amt="0"/>
              </a:blip>
              <a:stretch>
                <a:fillRect t="-465425" b="-46542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9525"/>
              <a:ext cx="10582275" cy="409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SYSTEM ARCHITECTURE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000625" y="2528888"/>
            <a:ext cx="8286750" cy="14288"/>
            <a:chOff x="0" y="0"/>
            <a:chExt cx="11049000" cy="1905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1049000" cy="19050"/>
            </a:xfrm>
            <a:custGeom>
              <a:avLst/>
              <a:gdLst/>
              <a:ahLst/>
              <a:cxnLst/>
              <a:rect l="l" t="t" r="r" b="b"/>
              <a:pathLst>
                <a:path w="11049000" h="19050">
                  <a:moveTo>
                    <a:pt x="0" y="0"/>
                  </a:moveTo>
                  <a:lnTo>
                    <a:pt x="11049000" y="0"/>
                  </a:lnTo>
                  <a:lnTo>
                    <a:pt x="11049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BAE6F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50669" y="5516756"/>
            <a:ext cx="7936706" cy="300038"/>
            <a:chOff x="0" y="0"/>
            <a:chExt cx="10582275" cy="40005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582274" cy="400050"/>
            </a:xfrm>
            <a:custGeom>
              <a:avLst/>
              <a:gdLst/>
              <a:ahLst/>
              <a:cxnLst/>
              <a:rect l="l" t="t" r="r" b="b"/>
              <a:pathLst>
                <a:path w="10582274" h="400050">
                  <a:moveTo>
                    <a:pt x="0" y="0"/>
                  </a:moveTo>
                  <a:lnTo>
                    <a:pt x="10582274" y="0"/>
                  </a:lnTo>
                  <a:lnTo>
                    <a:pt x="1058227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33">
                <a:alphaModFix amt="0"/>
              </a:blip>
              <a:stretch>
                <a:fillRect t="-465425" b="-46542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9525"/>
              <a:ext cx="10582275" cy="409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059669"/>
                  </a:solidFill>
                  <a:latin typeface="Poppins"/>
                  <a:ea typeface="Poppins"/>
                  <a:cs typeface="Poppins"/>
                  <a:sym typeface="Poppins"/>
                </a:rPr>
                <a:t>PREDICTION &amp; RESCUE ENGINE (CORE ENGINE)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000625" y="5888231"/>
            <a:ext cx="8286750" cy="14288"/>
            <a:chOff x="0" y="0"/>
            <a:chExt cx="11049000" cy="1905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1049000" cy="19050"/>
            </a:xfrm>
            <a:custGeom>
              <a:avLst/>
              <a:gdLst/>
              <a:ahLst/>
              <a:cxnLst/>
              <a:rect l="l" t="t" r="r" b="b"/>
              <a:pathLst>
                <a:path w="11049000" h="19050">
                  <a:moveTo>
                    <a:pt x="0" y="0"/>
                  </a:moveTo>
                  <a:lnTo>
                    <a:pt x="11049000" y="0"/>
                  </a:lnTo>
                  <a:lnTo>
                    <a:pt x="11049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BBF7D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558088" y="9072562"/>
            <a:ext cx="200025" cy="228600"/>
            <a:chOff x="0" y="0"/>
            <a:chExt cx="266700" cy="304800"/>
          </a:xfrm>
        </p:grpSpPr>
        <p:sp>
          <p:nvSpPr>
            <p:cNvPr id="90" name="Freeform 90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0772775" y="9072562"/>
            <a:ext cx="200025" cy="228600"/>
            <a:chOff x="0" y="0"/>
            <a:chExt cx="266700" cy="304800"/>
          </a:xfrm>
        </p:grpSpPr>
        <p:sp>
          <p:nvSpPr>
            <p:cNvPr id="92" name="Freeform 92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4308931" y="2128838"/>
            <a:ext cx="3207544" cy="314325"/>
            <a:chOff x="0" y="0"/>
            <a:chExt cx="4276725" cy="4191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276724" cy="419100"/>
            </a:xfrm>
            <a:custGeom>
              <a:avLst/>
              <a:gdLst/>
              <a:ahLst/>
              <a:cxnLst/>
              <a:rect l="l" t="t" r="r" b="b"/>
              <a:pathLst>
                <a:path w="4276724" h="419100">
                  <a:moveTo>
                    <a:pt x="0" y="0"/>
                  </a:moveTo>
                  <a:lnTo>
                    <a:pt x="4276724" y="0"/>
                  </a:lnTo>
                  <a:lnTo>
                    <a:pt x="4276724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33">
                <a:alphaModFix amt="0"/>
              </a:blip>
              <a:stretch>
                <a:fillRect t="-148835" b="-1488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9525"/>
              <a:ext cx="4276725" cy="428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CONTROL CENTER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3973175" y="2500312"/>
            <a:ext cx="3543300" cy="28575"/>
            <a:chOff x="0" y="0"/>
            <a:chExt cx="4724400" cy="381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724400" cy="38100"/>
            </a:xfrm>
            <a:custGeom>
              <a:avLst/>
              <a:gdLst/>
              <a:ahLst/>
              <a:cxnLst/>
              <a:rect l="l" t="t" r="r" b="b"/>
              <a:pathLst>
                <a:path w="4724400" h="38100">
                  <a:moveTo>
                    <a:pt x="0" y="0"/>
                  </a:moveTo>
                  <a:lnTo>
                    <a:pt x="4724400" y="0"/>
                  </a:lnTo>
                  <a:lnTo>
                    <a:pt x="472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4251781" y="3822354"/>
            <a:ext cx="3293269" cy="314325"/>
            <a:chOff x="0" y="0"/>
            <a:chExt cx="4391025" cy="4191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391024" cy="419100"/>
            </a:xfrm>
            <a:custGeom>
              <a:avLst/>
              <a:gdLst/>
              <a:ahLst/>
              <a:cxnLst/>
              <a:rect l="l" t="t" r="r" b="b"/>
              <a:pathLst>
                <a:path w="4391024" h="419100">
                  <a:moveTo>
                    <a:pt x="0" y="0"/>
                  </a:moveTo>
                  <a:lnTo>
                    <a:pt x="4391024" y="0"/>
                  </a:lnTo>
                  <a:lnTo>
                    <a:pt x="4391024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33">
                <a:alphaModFix amt="0"/>
              </a:blip>
              <a:stretch>
                <a:fillRect t="-154150" b="-15415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9525"/>
              <a:ext cx="4391025" cy="428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92400E"/>
                  </a:solidFill>
                  <a:latin typeface="Poppins"/>
                  <a:ea typeface="Poppins"/>
                  <a:cs typeface="Poppins"/>
                  <a:sym typeface="Poppins"/>
                </a:rPr>
                <a:t>SMS FALLBACK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3944600" y="4193829"/>
            <a:ext cx="3600450" cy="28575"/>
            <a:chOff x="0" y="0"/>
            <a:chExt cx="4800600" cy="381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4800600" cy="38100"/>
            </a:xfrm>
            <a:custGeom>
              <a:avLst/>
              <a:gdLst/>
              <a:ahLst/>
              <a:cxnLst/>
              <a:rect l="l" t="t" r="r" b="b"/>
              <a:pathLst>
                <a:path w="4800600" h="38100">
                  <a:moveTo>
                    <a:pt x="0" y="0"/>
                  </a:moveTo>
                  <a:lnTo>
                    <a:pt x="4800600" y="0"/>
                  </a:lnTo>
                  <a:lnTo>
                    <a:pt x="4800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4308931" y="5515870"/>
            <a:ext cx="3207544" cy="314325"/>
            <a:chOff x="0" y="0"/>
            <a:chExt cx="4276725" cy="4191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4276724" cy="419100"/>
            </a:xfrm>
            <a:custGeom>
              <a:avLst/>
              <a:gdLst/>
              <a:ahLst/>
              <a:cxnLst/>
              <a:rect l="l" t="t" r="r" b="b"/>
              <a:pathLst>
                <a:path w="4276724" h="419100">
                  <a:moveTo>
                    <a:pt x="0" y="0"/>
                  </a:moveTo>
                  <a:lnTo>
                    <a:pt x="4276724" y="0"/>
                  </a:lnTo>
                  <a:lnTo>
                    <a:pt x="4276724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33">
                <a:alphaModFix amt="0"/>
              </a:blip>
              <a:stretch>
                <a:fillRect t="-148835" b="-1488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-9525"/>
              <a:ext cx="4276725" cy="428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TECHNOLOGIES USED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3973175" y="5887345"/>
            <a:ext cx="3543300" cy="28575"/>
            <a:chOff x="0" y="0"/>
            <a:chExt cx="4724400" cy="3810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724400" cy="38100"/>
            </a:xfrm>
            <a:custGeom>
              <a:avLst/>
              <a:gdLst/>
              <a:ahLst/>
              <a:cxnLst/>
              <a:rect l="l" t="t" r="r" b="b"/>
              <a:pathLst>
                <a:path w="4724400" h="38100">
                  <a:moveTo>
                    <a:pt x="0" y="0"/>
                  </a:moveTo>
                  <a:lnTo>
                    <a:pt x="4724400" y="0"/>
                  </a:lnTo>
                  <a:lnTo>
                    <a:pt x="472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742950" y="2150269"/>
            <a:ext cx="221456" cy="185738"/>
            <a:chOff x="0" y="0"/>
            <a:chExt cx="295275" cy="247650"/>
          </a:xfrm>
        </p:grpSpPr>
        <p:sp>
          <p:nvSpPr>
            <p:cNvPr id="109" name="Freeform 109" descr="image.png"/>
            <p:cNvSpPr/>
            <p:nvPr/>
          </p:nvSpPr>
          <p:spPr>
            <a:xfrm>
              <a:off x="0" y="0"/>
              <a:ext cx="295275" cy="247650"/>
            </a:xfrm>
            <a:custGeom>
              <a:avLst/>
              <a:gdLst/>
              <a:ahLst/>
              <a:cxnLst/>
              <a:rect l="l" t="t" r="r" b="b"/>
              <a:pathLst>
                <a:path w="295275" h="247650">
                  <a:moveTo>
                    <a:pt x="0" y="0"/>
                  </a:moveTo>
                  <a:lnTo>
                    <a:pt x="295275" y="0"/>
                  </a:lnTo>
                  <a:lnTo>
                    <a:pt x="29527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t="-2164" b="-216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771525" y="5283698"/>
            <a:ext cx="192881" cy="185738"/>
            <a:chOff x="0" y="0"/>
            <a:chExt cx="257175" cy="247650"/>
          </a:xfrm>
        </p:grpSpPr>
        <p:sp>
          <p:nvSpPr>
            <p:cNvPr id="111" name="Freeform 111" descr="image.png"/>
            <p:cNvSpPr/>
            <p:nvPr/>
          </p:nvSpPr>
          <p:spPr>
            <a:xfrm>
              <a:off x="0" y="0"/>
              <a:ext cx="257175" cy="247650"/>
            </a:xfrm>
            <a:custGeom>
              <a:avLst/>
              <a:gdLst/>
              <a:ahLst/>
              <a:cxnLst/>
              <a:rect l="l" t="t" r="r" b="b"/>
              <a:pathLst>
                <a:path w="257175" h="247650">
                  <a:moveTo>
                    <a:pt x="0" y="0"/>
                  </a:moveTo>
                  <a:lnTo>
                    <a:pt x="257175" y="0"/>
                  </a:lnTo>
                  <a:lnTo>
                    <a:pt x="25717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t="-1923" b="-19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71525" y="5748042"/>
            <a:ext cx="3543300" cy="342900"/>
            <a:chOff x="0" y="0"/>
            <a:chExt cx="4724400" cy="457200"/>
          </a:xfrm>
        </p:grpSpPr>
        <p:sp>
          <p:nvSpPr>
            <p:cNvPr id="113" name="Freeform 113" descr="image.png"/>
            <p:cNvSpPr/>
            <p:nvPr/>
          </p:nvSpPr>
          <p:spPr>
            <a:xfrm>
              <a:off x="0" y="0"/>
              <a:ext cx="4724400" cy="457200"/>
            </a:xfrm>
            <a:custGeom>
              <a:avLst/>
              <a:gdLst/>
              <a:ahLst/>
              <a:cxnLst/>
              <a:rect l="l" t="t" r="r" b="b"/>
              <a:pathLst>
                <a:path w="4724400" h="457200">
                  <a:moveTo>
                    <a:pt x="0" y="0"/>
                  </a:moveTo>
                  <a:lnTo>
                    <a:pt x="4724400" y="0"/>
                  </a:lnTo>
                  <a:lnTo>
                    <a:pt x="4724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t="-1255" b="-12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771525" y="6148092"/>
            <a:ext cx="3543300" cy="342900"/>
            <a:chOff x="0" y="0"/>
            <a:chExt cx="4724400" cy="457200"/>
          </a:xfrm>
        </p:grpSpPr>
        <p:sp>
          <p:nvSpPr>
            <p:cNvPr id="115" name="Freeform 115" descr="image.png"/>
            <p:cNvSpPr/>
            <p:nvPr/>
          </p:nvSpPr>
          <p:spPr>
            <a:xfrm>
              <a:off x="0" y="0"/>
              <a:ext cx="4724400" cy="457200"/>
            </a:xfrm>
            <a:custGeom>
              <a:avLst/>
              <a:gdLst/>
              <a:ahLst/>
              <a:cxnLst/>
              <a:rect l="l" t="t" r="r" b="b"/>
              <a:pathLst>
                <a:path w="4724400" h="457200">
                  <a:moveTo>
                    <a:pt x="0" y="0"/>
                  </a:moveTo>
                  <a:lnTo>
                    <a:pt x="4724400" y="0"/>
                  </a:lnTo>
                  <a:lnTo>
                    <a:pt x="4724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t="-1255" b="-12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771525" y="6548142"/>
            <a:ext cx="3543300" cy="342900"/>
            <a:chOff x="0" y="0"/>
            <a:chExt cx="4724400" cy="457200"/>
          </a:xfrm>
        </p:grpSpPr>
        <p:sp>
          <p:nvSpPr>
            <p:cNvPr id="117" name="Freeform 117" descr="image.png"/>
            <p:cNvSpPr/>
            <p:nvPr/>
          </p:nvSpPr>
          <p:spPr>
            <a:xfrm>
              <a:off x="0" y="0"/>
              <a:ext cx="4724400" cy="457200"/>
            </a:xfrm>
            <a:custGeom>
              <a:avLst/>
              <a:gdLst/>
              <a:ahLst/>
              <a:cxnLst/>
              <a:rect l="l" t="t" r="r" b="b"/>
              <a:pathLst>
                <a:path w="4724400" h="457200">
                  <a:moveTo>
                    <a:pt x="0" y="0"/>
                  </a:moveTo>
                  <a:lnTo>
                    <a:pt x="4724400" y="0"/>
                  </a:lnTo>
                  <a:lnTo>
                    <a:pt x="4724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t="-1255" b="-12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771525" y="6948192"/>
            <a:ext cx="3543300" cy="342900"/>
            <a:chOff x="0" y="0"/>
            <a:chExt cx="4724400" cy="457200"/>
          </a:xfrm>
        </p:grpSpPr>
        <p:sp>
          <p:nvSpPr>
            <p:cNvPr id="119" name="Freeform 119" descr="image.png"/>
            <p:cNvSpPr/>
            <p:nvPr/>
          </p:nvSpPr>
          <p:spPr>
            <a:xfrm>
              <a:off x="0" y="0"/>
              <a:ext cx="4724400" cy="457200"/>
            </a:xfrm>
            <a:custGeom>
              <a:avLst/>
              <a:gdLst/>
              <a:ahLst/>
              <a:cxnLst/>
              <a:rect l="l" t="t" r="r" b="b"/>
              <a:pathLst>
                <a:path w="4724400" h="457200">
                  <a:moveTo>
                    <a:pt x="0" y="0"/>
                  </a:moveTo>
                  <a:lnTo>
                    <a:pt x="4724400" y="0"/>
                  </a:lnTo>
                  <a:lnTo>
                    <a:pt x="4724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t="-1255" b="-12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742950" y="7988494"/>
            <a:ext cx="192881" cy="185738"/>
            <a:chOff x="0" y="0"/>
            <a:chExt cx="257175" cy="247650"/>
          </a:xfrm>
        </p:grpSpPr>
        <p:sp>
          <p:nvSpPr>
            <p:cNvPr id="121" name="Freeform 121" descr="image.png"/>
            <p:cNvSpPr/>
            <p:nvPr/>
          </p:nvSpPr>
          <p:spPr>
            <a:xfrm>
              <a:off x="0" y="0"/>
              <a:ext cx="257175" cy="247650"/>
            </a:xfrm>
            <a:custGeom>
              <a:avLst/>
              <a:gdLst/>
              <a:ahLst/>
              <a:cxnLst/>
              <a:rect l="l" t="t" r="r" b="b"/>
              <a:pathLst>
                <a:path w="257175" h="247650">
                  <a:moveTo>
                    <a:pt x="0" y="0"/>
                  </a:moveTo>
                  <a:lnTo>
                    <a:pt x="257175" y="0"/>
                  </a:lnTo>
                  <a:lnTo>
                    <a:pt x="25717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>
                <a:fillRect t="-1923" b="-19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000625" y="2207419"/>
            <a:ext cx="235744" cy="185738"/>
            <a:chOff x="0" y="0"/>
            <a:chExt cx="314325" cy="247650"/>
          </a:xfrm>
        </p:grpSpPr>
        <p:sp>
          <p:nvSpPr>
            <p:cNvPr id="123" name="Freeform 123" descr="image.png"/>
            <p:cNvSpPr/>
            <p:nvPr/>
          </p:nvSpPr>
          <p:spPr>
            <a:xfrm>
              <a:off x="0" y="0"/>
              <a:ext cx="314325" cy="247650"/>
            </a:xfrm>
            <a:custGeom>
              <a:avLst/>
              <a:gdLst/>
              <a:ahLst/>
              <a:cxnLst/>
              <a:rect l="l" t="t" r="r" b="b"/>
              <a:pathLst>
                <a:path w="314325" h="247650">
                  <a:moveTo>
                    <a:pt x="0" y="0"/>
                  </a:moveTo>
                  <a:lnTo>
                    <a:pt x="314325" y="0"/>
                  </a:lnTo>
                  <a:lnTo>
                    <a:pt x="3143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t="-2261" b="-226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5000625" y="5566762"/>
            <a:ext cx="235744" cy="185738"/>
            <a:chOff x="0" y="0"/>
            <a:chExt cx="314325" cy="247650"/>
          </a:xfrm>
        </p:grpSpPr>
        <p:sp>
          <p:nvSpPr>
            <p:cNvPr id="125" name="Freeform 125" descr="image.png"/>
            <p:cNvSpPr/>
            <p:nvPr/>
          </p:nvSpPr>
          <p:spPr>
            <a:xfrm>
              <a:off x="0" y="0"/>
              <a:ext cx="314325" cy="247650"/>
            </a:xfrm>
            <a:custGeom>
              <a:avLst/>
              <a:gdLst/>
              <a:ahLst/>
              <a:cxnLst/>
              <a:rect l="l" t="t" r="r" b="b"/>
              <a:pathLst>
                <a:path w="314325" h="247650">
                  <a:moveTo>
                    <a:pt x="0" y="0"/>
                  </a:moveTo>
                  <a:lnTo>
                    <a:pt x="314325" y="0"/>
                  </a:lnTo>
                  <a:lnTo>
                    <a:pt x="3143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t="-2261" b="-226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5000625" y="9072562"/>
            <a:ext cx="200025" cy="228600"/>
            <a:chOff x="0" y="0"/>
            <a:chExt cx="266700" cy="304800"/>
          </a:xfrm>
        </p:grpSpPr>
        <p:sp>
          <p:nvSpPr>
            <p:cNvPr id="127" name="Freeform 127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8186738" y="9072562"/>
            <a:ext cx="228600" cy="228600"/>
            <a:chOff x="0" y="0"/>
            <a:chExt cx="304800" cy="304800"/>
          </a:xfrm>
        </p:grpSpPr>
        <p:sp>
          <p:nvSpPr>
            <p:cNvPr id="129" name="Freeform 129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1401425" y="9072562"/>
            <a:ext cx="285750" cy="228600"/>
            <a:chOff x="0" y="0"/>
            <a:chExt cx="381000" cy="304800"/>
          </a:xfrm>
        </p:grpSpPr>
        <p:sp>
          <p:nvSpPr>
            <p:cNvPr id="131" name="Freeform 131" descr="image.png"/>
            <p:cNvSpPr/>
            <p:nvPr/>
          </p:nvSpPr>
          <p:spPr>
            <a:xfrm>
              <a:off x="0" y="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13973175" y="2178844"/>
            <a:ext cx="221456" cy="185738"/>
            <a:chOff x="0" y="0"/>
            <a:chExt cx="295275" cy="247650"/>
          </a:xfrm>
        </p:grpSpPr>
        <p:sp>
          <p:nvSpPr>
            <p:cNvPr id="133" name="Freeform 133" descr="image.png"/>
            <p:cNvSpPr/>
            <p:nvPr/>
          </p:nvSpPr>
          <p:spPr>
            <a:xfrm>
              <a:off x="0" y="0"/>
              <a:ext cx="295275" cy="247650"/>
            </a:xfrm>
            <a:custGeom>
              <a:avLst/>
              <a:gdLst/>
              <a:ahLst/>
              <a:cxnLst/>
              <a:rect l="l" t="t" r="r" b="b"/>
              <a:pathLst>
                <a:path w="295275" h="247650">
                  <a:moveTo>
                    <a:pt x="0" y="0"/>
                  </a:moveTo>
                  <a:lnTo>
                    <a:pt x="295275" y="0"/>
                  </a:lnTo>
                  <a:lnTo>
                    <a:pt x="29527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>
                <a:fillRect t="-2164" b="-216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3944600" y="3872360"/>
            <a:ext cx="192881" cy="185738"/>
            <a:chOff x="0" y="0"/>
            <a:chExt cx="257175" cy="247650"/>
          </a:xfrm>
        </p:grpSpPr>
        <p:sp>
          <p:nvSpPr>
            <p:cNvPr id="135" name="Freeform 135" descr="image.png"/>
            <p:cNvSpPr/>
            <p:nvPr/>
          </p:nvSpPr>
          <p:spPr>
            <a:xfrm>
              <a:off x="0" y="0"/>
              <a:ext cx="257175" cy="247650"/>
            </a:xfrm>
            <a:custGeom>
              <a:avLst/>
              <a:gdLst/>
              <a:ahLst/>
              <a:cxnLst/>
              <a:rect l="l" t="t" r="r" b="b"/>
              <a:pathLst>
                <a:path w="257175" h="247650">
                  <a:moveTo>
                    <a:pt x="0" y="0"/>
                  </a:moveTo>
                  <a:lnTo>
                    <a:pt x="257175" y="0"/>
                  </a:lnTo>
                  <a:lnTo>
                    <a:pt x="25717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>
                <a:fillRect t="-1923" b="-19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13973175" y="5565877"/>
            <a:ext cx="221456" cy="185738"/>
            <a:chOff x="0" y="0"/>
            <a:chExt cx="295275" cy="247650"/>
          </a:xfrm>
        </p:grpSpPr>
        <p:sp>
          <p:nvSpPr>
            <p:cNvPr id="137" name="Freeform 137" descr="image.png"/>
            <p:cNvSpPr/>
            <p:nvPr/>
          </p:nvSpPr>
          <p:spPr>
            <a:xfrm>
              <a:off x="0" y="0"/>
              <a:ext cx="295275" cy="247650"/>
            </a:xfrm>
            <a:custGeom>
              <a:avLst/>
              <a:gdLst/>
              <a:ahLst/>
              <a:cxnLst/>
              <a:rect l="l" t="t" r="r" b="b"/>
              <a:pathLst>
                <a:path w="295275" h="247650">
                  <a:moveTo>
                    <a:pt x="0" y="0"/>
                  </a:moveTo>
                  <a:lnTo>
                    <a:pt x="295275" y="0"/>
                  </a:lnTo>
                  <a:lnTo>
                    <a:pt x="29527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>
                <a:fillRect t="-2164" b="-216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205461" y="2871788"/>
            <a:ext cx="257175" cy="285750"/>
            <a:chOff x="0" y="0"/>
            <a:chExt cx="342900" cy="381000"/>
          </a:xfrm>
        </p:grpSpPr>
        <p:sp>
          <p:nvSpPr>
            <p:cNvPr id="139" name="Freeform 139" descr="image.png"/>
            <p:cNvSpPr/>
            <p:nvPr/>
          </p:nvSpPr>
          <p:spPr>
            <a:xfrm>
              <a:off x="0" y="0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>
                <a:fillRect l="-2777" r="-277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9000906" y="2871788"/>
            <a:ext cx="285750" cy="285750"/>
            <a:chOff x="0" y="0"/>
            <a:chExt cx="381000" cy="381000"/>
          </a:xfrm>
        </p:grpSpPr>
        <p:sp>
          <p:nvSpPr>
            <p:cNvPr id="141" name="Freeform 141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>
                <a:fillRect l="-2500" r="-25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1789416" y="2871788"/>
            <a:ext cx="328612" cy="285750"/>
            <a:chOff x="0" y="0"/>
            <a:chExt cx="438150" cy="381000"/>
          </a:xfrm>
        </p:grpSpPr>
        <p:sp>
          <p:nvSpPr>
            <p:cNvPr id="143" name="Freeform 143" descr="image.png"/>
            <p:cNvSpPr/>
            <p:nvPr/>
          </p:nvSpPr>
          <p:spPr>
            <a:xfrm>
              <a:off x="0" y="0"/>
              <a:ext cx="438150" cy="381000"/>
            </a:xfrm>
            <a:custGeom>
              <a:avLst/>
              <a:gdLst/>
              <a:ahLst/>
              <a:cxnLst/>
              <a:rect l="l" t="t" r="r" b="b"/>
              <a:pathLst>
                <a:path w="438150" h="38100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>
                <a:fillRect l="-2173" r="-217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14114716" y="6198602"/>
            <a:ext cx="200025" cy="171450"/>
            <a:chOff x="0" y="0"/>
            <a:chExt cx="266700" cy="228600"/>
          </a:xfrm>
        </p:grpSpPr>
        <p:sp>
          <p:nvSpPr>
            <p:cNvPr id="145" name="Freeform 145" descr="image.png"/>
            <p:cNvSpPr/>
            <p:nvPr/>
          </p:nvSpPr>
          <p:spPr>
            <a:xfrm>
              <a:off x="0" y="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0"/>
                  </a:moveTo>
                  <a:lnTo>
                    <a:pt x="266700" y="0"/>
                  </a:lnTo>
                  <a:lnTo>
                    <a:pt x="2667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3"/>
              <a:stretch>
                <a:fillRect t="-4166" b="-4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5923155" y="6127098"/>
            <a:ext cx="200025" cy="171450"/>
            <a:chOff x="0" y="0"/>
            <a:chExt cx="266700" cy="228600"/>
          </a:xfrm>
        </p:grpSpPr>
        <p:sp>
          <p:nvSpPr>
            <p:cNvPr id="147" name="Freeform 147" descr="image.png"/>
            <p:cNvSpPr/>
            <p:nvPr/>
          </p:nvSpPr>
          <p:spPr>
            <a:xfrm>
              <a:off x="0" y="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0"/>
                  </a:moveTo>
                  <a:lnTo>
                    <a:pt x="266700" y="0"/>
                  </a:lnTo>
                  <a:lnTo>
                    <a:pt x="2667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4"/>
              <a:stretch>
                <a:fillRect t="-4166" b="-4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14101762" y="6608864"/>
            <a:ext cx="157162" cy="171450"/>
            <a:chOff x="0" y="0"/>
            <a:chExt cx="209550" cy="228600"/>
          </a:xfrm>
        </p:grpSpPr>
        <p:sp>
          <p:nvSpPr>
            <p:cNvPr id="149" name="Freeform 149" descr="image.png"/>
            <p:cNvSpPr/>
            <p:nvPr/>
          </p:nvSpPr>
          <p:spPr>
            <a:xfrm>
              <a:off x="0" y="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0" y="0"/>
                  </a:moveTo>
                  <a:lnTo>
                    <a:pt x="209550" y="0"/>
                  </a:lnTo>
                  <a:lnTo>
                    <a:pt x="2095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5"/>
              <a:stretch>
                <a:fillRect t="-4166" b="-4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15916275" y="6608864"/>
            <a:ext cx="171450" cy="171450"/>
            <a:chOff x="0" y="0"/>
            <a:chExt cx="228600" cy="228600"/>
          </a:xfrm>
        </p:grpSpPr>
        <p:sp>
          <p:nvSpPr>
            <p:cNvPr id="151" name="Freeform 151" descr="image.png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6"/>
              <a:stretch>
                <a:fillRect t="-4166" b="-4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14101762" y="7080352"/>
            <a:ext cx="171450" cy="171450"/>
            <a:chOff x="0" y="0"/>
            <a:chExt cx="228600" cy="228600"/>
          </a:xfrm>
        </p:grpSpPr>
        <p:sp>
          <p:nvSpPr>
            <p:cNvPr id="153" name="Freeform 153" descr="image.png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7"/>
              <a:stretch>
                <a:fillRect t="-4166" b="-4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15916275" y="7080352"/>
            <a:ext cx="128588" cy="171450"/>
            <a:chOff x="0" y="0"/>
            <a:chExt cx="171450" cy="228600"/>
          </a:xfrm>
        </p:grpSpPr>
        <p:sp>
          <p:nvSpPr>
            <p:cNvPr id="155" name="Freeform 155" descr="image.png"/>
            <p:cNvSpPr/>
            <p:nvPr/>
          </p:nvSpPr>
          <p:spPr>
            <a:xfrm>
              <a:off x="0" y="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8"/>
              <a:stretch>
                <a:fillRect t="-4166" b="-4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6" name="Group 156"/>
          <p:cNvGrpSpPr/>
          <p:nvPr/>
        </p:nvGrpSpPr>
        <p:grpSpPr>
          <a:xfrm>
            <a:off x="14101762" y="7551839"/>
            <a:ext cx="171450" cy="171450"/>
            <a:chOff x="0" y="0"/>
            <a:chExt cx="228600" cy="228600"/>
          </a:xfrm>
        </p:grpSpPr>
        <p:sp>
          <p:nvSpPr>
            <p:cNvPr id="157" name="Freeform 157" descr="image.png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9"/>
              <a:stretch>
                <a:fillRect t="-4166" b="-4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5916275" y="7551839"/>
            <a:ext cx="171450" cy="171450"/>
            <a:chOff x="0" y="0"/>
            <a:chExt cx="228600" cy="228600"/>
          </a:xfrm>
        </p:grpSpPr>
        <p:sp>
          <p:nvSpPr>
            <p:cNvPr id="159" name="Freeform 159" descr="image.png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0"/>
              <a:stretch>
                <a:fillRect t="-4166" b="-4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0" name="Group 160"/>
          <p:cNvGrpSpPr/>
          <p:nvPr/>
        </p:nvGrpSpPr>
        <p:grpSpPr>
          <a:xfrm>
            <a:off x="15275052" y="143447"/>
            <a:ext cx="2470023" cy="1194816"/>
            <a:chOff x="0" y="0"/>
            <a:chExt cx="3293364" cy="1593088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3293364" cy="1593088"/>
            </a:xfrm>
            <a:custGeom>
              <a:avLst/>
              <a:gdLst/>
              <a:ahLst/>
              <a:cxnLst/>
              <a:rect l="l" t="t" r="r" b="b"/>
              <a:pathLst>
                <a:path w="3293364" h="1593088">
                  <a:moveTo>
                    <a:pt x="0" y="0"/>
                  </a:moveTo>
                  <a:lnTo>
                    <a:pt x="3293364" y="0"/>
                  </a:lnTo>
                  <a:lnTo>
                    <a:pt x="3293364" y="1593088"/>
                  </a:lnTo>
                  <a:lnTo>
                    <a:pt x="0" y="159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1"/>
              <a:stretch>
                <a:fillRect t="-451" b="-4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2" name="Group 162"/>
          <p:cNvGrpSpPr/>
          <p:nvPr/>
        </p:nvGrpSpPr>
        <p:grpSpPr>
          <a:xfrm>
            <a:off x="542925" y="143447"/>
            <a:ext cx="1324831" cy="1398304"/>
            <a:chOff x="0" y="0"/>
            <a:chExt cx="2322068" cy="2450846"/>
          </a:xfrm>
        </p:grpSpPr>
        <p:sp>
          <p:nvSpPr>
            <p:cNvPr id="163" name="Freeform 163"/>
            <p:cNvSpPr/>
            <p:nvPr/>
          </p:nvSpPr>
          <p:spPr>
            <a:xfrm>
              <a:off x="0" y="0"/>
              <a:ext cx="2322068" cy="2450846"/>
            </a:xfrm>
            <a:custGeom>
              <a:avLst/>
              <a:gdLst/>
              <a:ahLst/>
              <a:cxnLst/>
              <a:rect l="l" t="t" r="r" b="b"/>
              <a:pathLst>
                <a:path w="2322068" h="2450846">
                  <a:moveTo>
                    <a:pt x="0" y="0"/>
                  </a:moveTo>
                  <a:lnTo>
                    <a:pt x="2322068" y="0"/>
                  </a:lnTo>
                  <a:lnTo>
                    <a:pt x="2322068" y="2450846"/>
                  </a:lnTo>
                  <a:lnTo>
                    <a:pt x="0" y="2450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2"/>
              <a:stretch>
                <a:fillRect l="-2772" r="-277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4" name="Freeform 164"/>
          <p:cNvSpPr/>
          <p:nvPr/>
        </p:nvSpPr>
        <p:spPr>
          <a:xfrm>
            <a:off x="13944600" y="7992064"/>
            <a:ext cx="3899070" cy="1480539"/>
          </a:xfrm>
          <a:custGeom>
            <a:avLst/>
            <a:gdLst/>
            <a:ahLst/>
            <a:cxnLst/>
            <a:rect l="l" t="t" r="r" b="b"/>
            <a:pathLst>
              <a:path w="3899070" h="1480539">
                <a:moveTo>
                  <a:pt x="0" y="0"/>
                </a:moveTo>
                <a:lnTo>
                  <a:pt x="3899070" y="0"/>
                </a:lnTo>
                <a:lnTo>
                  <a:pt x="3899070" y="1480539"/>
                </a:lnTo>
                <a:lnTo>
                  <a:pt x="0" y="1480539"/>
                </a:lnTo>
                <a:lnTo>
                  <a:pt x="0" y="0"/>
                </a:lnTo>
                <a:close/>
              </a:path>
            </a:pathLst>
          </a:custGeom>
          <a:blipFill>
            <a:blip r:embed="rId63"/>
            <a:stretch>
              <a:fillRect l="-8986" t="-2473" r="-849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5" name="Freeform 165"/>
          <p:cNvSpPr/>
          <p:nvPr/>
        </p:nvSpPr>
        <p:spPr>
          <a:xfrm>
            <a:off x="14101236" y="8025951"/>
            <a:ext cx="3643839" cy="453723"/>
          </a:xfrm>
          <a:custGeom>
            <a:avLst/>
            <a:gdLst/>
            <a:ahLst/>
            <a:cxnLst/>
            <a:rect l="l" t="t" r="r" b="b"/>
            <a:pathLst>
              <a:path w="3643839" h="453723">
                <a:moveTo>
                  <a:pt x="0" y="0"/>
                </a:moveTo>
                <a:lnTo>
                  <a:pt x="3643839" y="0"/>
                </a:lnTo>
                <a:lnTo>
                  <a:pt x="3643839" y="453723"/>
                </a:lnTo>
                <a:lnTo>
                  <a:pt x="0" y="453723"/>
                </a:lnTo>
                <a:lnTo>
                  <a:pt x="0" y="0"/>
                </a:lnTo>
                <a:close/>
              </a:path>
            </a:pathLst>
          </a:custGeom>
          <a:blipFill>
            <a:blip r:embed="rId64"/>
            <a:stretch>
              <a:fillRect r="-9530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6" name="Freeform 166"/>
          <p:cNvSpPr/>
          <p:nvPr/>
        </p:nvSpPr>
        <p:spPr>
          <a:xfrm>
            <a:off x="13987462" y="8084746"/>
            <a:ext cx="192881" cy="253791"/>
          </a:xfrm>
          <a:custGeom>
            <a:avLst/>
            <a:gdLst/>
            <a:ahLst/>
            <a:cxnLst/>
            <a:rect l="l" t="t" r="r" b="b"/>
            <a:pathLst>
              <a:path w="192881" h="253791">
                <a:moveTo>
                  <a:pt x="0" y="0"/>
                </a:moveTo>
                <a:lnTo>
                  <a:pt x="192882" y="0"/>
                </a:lnTo>
                <a:lnTo>
                  <a:pt x="192882" y="253791"/>
                </a:lnTo>
                <a:lnTo>
                  <a:pt x="0" y="253791"/>
                </a:lnTo>
                <a:lnTo>
                  <a:pt x="0" y="0"/>
                </a:lnTo>
                <a:close/>
              </a:path>
            </a:pathLst>
          </a:custGeom>
          <a:blipFill>
            <a:blip r:embed="rId6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7" name="TextBox 167"/>
          <p:cNvSpPr txBox="1"/>
          <p:nvPr/>
        </p:nvSpPr>
        <p:spPr>
          <a:xfrm>
            <a:off x="16802100" y="9620250"/>
            <a:ext cx="94297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Slide 3 of 6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742950" y="8424262"/>
            <a:ext cx="3600450" cy="876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237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Android Keystore protected sessions, cryptographic PIN validation on handoff, CameraX audit photos, and zero external credential exposure.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3973175" y="2614613"/>
            <a:ext cx="3543300" cy="664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237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Live monitoring of rescue dispatches, NAAC green rating reports, ESG compliance logs, and analytics for university authorities.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13944600" y="4308129"/>
            <a:ext cx="3600450" cy="664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237">
                <a:solidFill>
                  <a:srgbClr val="78350F"/>
                </a:solidFill>
                <a:latin typeface="Arimo"/>
                <a:ea typeface="Arimo"/>
                <a:cs typeface="Arimo"/>
                <a:sym typeface="Arimo"/>
              </a:rPr>
              <a:t>Triggered when internet is unavailable in basement mess kitchens to send immediate SMS rescue alerts to trusted contacts.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942975" y="2595562"/>
            <a:ext cx="34004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1"/>
              </a:lnSpc>
            </a:pPr>
            <a:r>
              <a:rPr lang="en-US" sz="1293" b="1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•</a:t>
            </a:r>
            <a:r>
              <a:rPr lang="en-US" sz="1293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Pre-cooking portion intelligence stops waste before prep.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942975" y="3109912"/>
            <a:ext cx="34004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1"/>
              </a:lnSpc>
            </a:pPr>
            <a:r>
              <a:rPr lang="en-US" sz="1293" b="1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•</a:t>
            </a:r>
            <a:r>
              <a:rPr lang="en-US" sz="1293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100% offline-first local Room DB execution.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964406" y="3460404"/>
            <a:ext cx="34004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1"/>
              </a:lnSpc>
            </a:pPr>
            <a:r>
              <a:rPr lang="en-US" sz="1293" b="1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•</a:t>
            </a:r>
            <a:r>
              <a:rPr lang="en-US" sz="1293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Zero-Trust SecureRandom 4-digit PIN verification.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942975" y="4138612"/>
            <a:ext cx="34004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1"/>
              </a:lnSpc>
            </a:pPr>
            <a:r>
              <a:rPr lang="en-US" sz="1293" b="1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•</a:t>
            </a:r>
            <a:r>
              <a:rPr lang="en-US" sz="1293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15-second CameraX logging UI for kitchen staff.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5314950" y="9060656"/>
            <a:ext cx="1814512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065F46"/>
                </a:solidFill>
                <a:latin typeface="Arimo Bold"/>
                <a:ea typeface="Arimo Bold"/>
                <a:cs typeface="Arimo Bold"/>
                <a:sym typeface="Arimo Bold"/>
              </a:rPr>
              <a:t>Room SQLite Storage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8529638" y="9060656"/>
            <a:ext cx="1814512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065F46"/>
                </a:solidFill>
                <a:latin typeface="Arimo Bold"/>
                <a:ea typeface="Arimo Bold"/>
                <a:cs typeface="Arimo Bold"/>
                <a:sym typeface="Arimo Bold"/>
              </a:rPr>
              <a:t>Outbox Pending Sync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11801475" y="9060656"/>
            <a:ext cx="1485900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065F46"/>
                </a:solidFill>
                <a:latin typeface="Arimo Bold"/>
                <a:ea typeface="Arimo Bold"/>
                <a:cs typeface="Arimo Bold"/>
                <a:sym typeface="Arimo Bold"/>
              </a:rPr>
              <a:t>Sync When Online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5038963" y="3195638"/>
            <a:ext cx="2590171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KITCHEN TERMINAL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5100638" y="3419475"/>
            <a:ext cx="246682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Android Tablet / Phone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7848686" y="3195638"/>
            <a:ext cx="2590400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EDGE ROUTER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7910360" y="3419475"/>
            <a:ext cx="2467051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Room DB + Local Engine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10658637" y="3195638"/>
            <a:ext cx="2590400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NGO DASHBOARD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10720311" y="3419475"/>
            <a:ext cx="2467051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Rescue &amp; PIN Handshake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5066490" y="6564506"/>
            <a:ext cx="1434084" cy="2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Headcount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5100638" y="6826444"/>
            <a:ext cx="1365799" cy="35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sz="1068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Kitchen inputs meal type.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6746615" y="6564506"/>
            <a:ext cx="1434084" cy="2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Query DB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6780762" y="6826444"/>
            <a:ext cx="1365799" cy="35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sz="1068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Fetches past logs from Room.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8426729" y="6564506"/>
            <a:ext cx="1434322" cy="2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8460877" y="6826444"/>
            <a:ext cx="1366018" cy="35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sz="1068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Calculates surplus risk %.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10107073" y="6564506"/>
            <a:ext cx="1434084" cy="2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Rescue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10141220" y="6826444"/>
            <a:ext cx="1365799" cy="35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sz="1068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Alerts nearby shelters.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11787197" y="6564506"/>
            <a:ext cx="1434084" cy="2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Verify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11821344" y="6826444"/>
            <a:ext cx="1365799" cy="35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5"/>
              </a:lnSpc>
            </a:pPr>
            <a:r>
              <a:rPr lang="en-US" sz="1068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4-Digit PIN validation.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4037825" y="427938"/>
            <a:ext cx="9706750" cy="587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606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Technical Approach &amp; </a:t>
            </a:r>
            <a:r>
              <a:rPr lang="en-US" sz="3606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System Diagram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14251781" y="8387316"/>
            <a:ext cx="3157537" cy="96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2"/>
              </a:lnSpc>
              <a:spcBef>
                <a:spcPct val="0"/>
              </a:spcBef>
            </a:pPr>
            <a:r>
              <a:rPr lang="en-US" sz="10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Leverages Google Play Services Location &amp; Proximity Routing APIs for real-time GPS coordinate fetching, spatial radius calculation to identify nearest registered NGOs, and optimal dispatch route mapping for rapid pickup.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2925" y="2054495"/>
            <a:ext cx="5581498" cy="1943100"/>
            <a:chOff x="0" y="0"/>
            <a:chExt cx="7441997" cy="25908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7441946" cy="2590800"/>
            </a:xfrm>
            <a:custGeom>
              <a:avLst/>
              <a:gdLst/>
              <a:ahLst/>
              <a:cxnLst/>
              <a:rect l="l" t="t" r="r" b="b"/>
              <a:pathLst>
                <a:path w="7441946" h="2590800">
                  <a:moveTo>
                    <a:pt x="0" y="0"/>
                  </a:moveTo>
                  <a:lnTo>
                    <a:pt x="7441946" y="0"/>
                  </a:lnTo>
                  <a:lnTo>
                    <a:pt x="7441946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95" b="-1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353023" y="2054495"/>
            <a:ext cx="5581726" cy="1943100"/>
            <a:chOff x="0" y="0"/>
            <a:chExt cx="7442302" cy="25908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442327" cy="2590800"/>
            </a:xfrm>
            <a:custGeom>
              <a:avLst/>
              <a:gdLst/>
              <a:ahLst/>
              <a:cxnLst/>
              <a:rect l="l" t="t" r="r" b="b"/>
              <a:pathLst>
                <a:path w="7442327" h="2590800">
                  <a:moveTo>
                    <a:pt x="0" y="0"/>
                  </a:moveTo>
                  <a:lnTo>
                    <a:pt x="7442327" y="0"/>
                  </a:lnTo>
                  <a:lnTo>
                    <a:pt x="7442327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7" b="-19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163349" y="2054495"/>
            <a:ext cx="5581498" cy="1943100"/>
            <a:chOff x="0" y="0"/>
            <a:chExt cx="7441997" cy="25908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441946" cy="2590800"/>
            </a:xfrm>
            <a:custGeom>
              <a:avLst/>
              <a:gdLst/>
              <a:ahLst/>
              <a:cxnLst/>
              <a:rect l="l" t="t" r="r" b="b"/>
              <a:pathLst>
                <a:path w="7441946" h="2590800">
                  <a:moveTo>
                    <a:pt x="0" y="0"/>
                  </a:moveTo>
                  <a:lnTo>
                    <a:pt x="7441946" y="0"/>
                  </a:lnTo>
                  <a:lnTo>
                    <a:pt x="7441946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5" b="-1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2925" y="7100668"/>
            <a:ext cx="5581498" cy="2371725"/>
            <a:chOff x="0" y="0"/>
            <a:chExt cx="7441997" cy="3162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441946" cy="3162300"/>
            </a:xfrm>
            <a:custGeom>
              <a:avLst/>
              <a:gdLst/>
              <a:ahLst/>
              <a:cxnLst/>
              <a:rect l="l" t="t" r="r" b="b"/>
              <a:pathLst>
                <a:path w="7441946" h="3162300">
                  <a:moveTo>
                    <a:pt x="0" y="0"/>
                  </a:moveTo>
                  <a:lnTo>
                    <a:pt x="7441946" y="0"/>
                  </a:lnTo>
                  <a:lnTo>
                    <a:pt x="7441946" y="3162300"/>
                  </a:lnTo>
                  <a:lnTo>
                    <a:pt x="0" y="316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53023" y="7100668"/>
            <a:ext cx="5581726" cy="2371725"/>
            <a:chOff x="0" y="0"/>
            <a:chExt cx="7442302" cy="31623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7442327" cy="3162300"/>
            </a:xfrm>
            <a:custGeom>
              <a:avLst/>
              <a:gdLst/>
              <a:ahLst/>
              <a:cxnLst/>
              <a:rect l="l" t="t" r="r" b="b"/>
              <a:pathLst>
                <a:path w="7442327" h="3162300">
                  <a:moveTo>
                    <a:pt x="0" y="0"/>
                  </a:moveTo>
                  <a:lnTo>
                    <a:pt x="7442327" y="0"/>
                  </a:lnTo>
                  <a:lnTo>
                    <a:pt x="7442327" y="3162300"/>
                  </a:lnTo>
                  <a:lnTo>
                    <a:pt x="0" y="316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0" b="-13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63349" y="7100668"/>
            <a:ext cx="5581498" cy="2371725"/>
            <a:chOff x="0" y="0"/>
            <a:chExt cx="7441997" cy="31623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7441946" cy="3162300"/>
            </a:xfrm>
            <a:custGeom>
              <a:avLst/>
              <a:gdLst/>
              <a:ahLst/>
              <a:cxnLst/>
              <a:rect l="l" t="t" r="r" b="b"/>
              <a:pathLst>
                <a:path w="7441946" h="3162300">
                  <a:moveTo>
                    <a:pt x="0" y="0"/>
                  </a:moveTo>
                  <a:lnTo>
                    <a:pt x="7441946" y="0"/>
                  </a:lnTo>
                  <a:lnTo>
                    <a:pt x="7441946" y="3162300"/>
                  </a:lnTo>
                  <a:lnTo>
                    <a:pt x="0" y="316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1538" y="8429406"/>
            <a:ext cx="4924273" cy="771525"/>
            <a:chOff x="0" y="0"/>
            <a:chExt cx="6565697" cy="10287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6565646" cy="1028700"/>
            </a:xfrm>
            <a:custGeom>
              <a:avLst/>
              <a:gdLst/>
              <a:ahLst/>
              <a:cxnLst/>
              <a:rect l="l" t="t" r="r" b="b"/>
              <a:pathLst>
                <a:path w="6565646" h="1028700">
                  <a:moveTo>
                    <a:pt x="0" y="0"/>
                  </a:moveTo>
                  <a:lnTo>
                    <a:pt x="6565646" y="0"/>
                  </a:lnTo>
                  <a:lnTo>
                    <a:pt x="6565646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37" b="-4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81635" y="8429406"/>
            <a:ext cx="4924501" cy="771525"/>
            <a:chOff x="0" y="0"/>
            <a:chExt cx="6566002" cy="10287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6566027" cy="1028700"/>
            </a:xfrm>
            <a:custGeom>
              <a:avLst/>
              <a:gdLst/>
              <a:ahLst/>
              <a:cxnLst/>
              <a:rect l="l" t="t" r="r" b="b"/>
              <a:pathLst>
                <a:path w="6566027" h="1028700">
                  <a:moveTo>
                    <a:pt x="0" y="0"/>
                  </a:moveTo>
                  <a:lnTo>
                    <a:pt x="6566027" y="0"/>
                  </a:lnTo>
                  <a:lnTo>
                    <a:pt x="6566027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38" b="-43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496724" y="8429406"/>
            <a:ext cx="4924273" cy="771525"/>
            <a:chOff x="0" y="0"/>
            <a:chExt cx="6565697" cy="10287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6565646" cy="1028700"/>
            </a:xfrm>
            <a:custGeom>
              <a:avLst/>
              <a:gdLst/>
              <a:ahLst/>
              <a:cxnLst/>
              <a:rect l="l" t="t" r="r" b="b"/>
              <a:pathLst>
                <a:path w="6565646" h="1028700">
                  <a:moveTo>
                    <a:pt x="0" y="0"/>
                  </a:moveTo>
                  <a:lnTo>
                    <a:pt x="6565646" y="0"/>
                  </a:lnTo>
                  <a:lnTo>
                    <a:pt x="6565646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37" b="-4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2925" y="9472612"/>
            <a:ext cx="17202150" cy="385762"/>
            <a:chOff x="0" y="0"/>
            <a:chExt cx="22936200" cy="5143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22936200" cy="514350"/>
            </a:xfrm>
            <a:custGeom>
              <a:avLst/>
              <a:gdLst/>
              <a:ahLst/>
              <a:cxnLst/>
              <a:rect l="l" t="t" r="r" b="b"/>
              <a:pathLst>
                <a:path w="22936200" h="514350">
                  <a:moveTo>
                    <a:pt x="0" y="0"/>
                  </a:moveTo>
                  <a:lnTo>
                    <a:pt x="22936200" y="0"/>
                  </a:lnTo>
                  <a:lnTo>
                    <a:pt x="229362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66" r="-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42975" y="5426345"/>
            <a:ext cx="175736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624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Risk Mitigation Matrix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787812" y="9620250"/>
            <a:ext cx="957262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Slide 4 of 6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42925" y="5445395"/>
            <a:ext cx="311580" cy="311580"/>
            <a:chOff x="0" y="0"/>
            <a:chExt cx="342900" cy="3429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777" b="-277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2975" y="2325957"/>
            <a:ext cx="4852835" cy="385762"/>
            <a:chOff x="0" y="0"/>
            <a:chExt cx="6470447" cy="51435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6470396" cy="514350"/>
            </a:xfrm>
            <a:custGeom>
              <a:avLst/>
              <a:gdLst/>
              <a:ahLst/>
              <a:cxnLst/>
              <a:rect l="l" t="t" r="r" b="b"/>
              <a:pathLst>
                <a:path w="6470396" h="514350">
                  <a:moveTo>
                    <a:pt x="0" y="0"/>
                  </a:moveTo>
                  <a:lnTo>
                    <a:pt x="6470396" y="0"/>
                  </a:lnTo>
                  <a:lnTo>
                    <a:pt x="6470396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607" b="-6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42975" y="2768870"/>
            <a:ext cx="4852835" cy="95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Built on native Android Kotlin &amp; Jetpack Compose stack. Extremely lightweight, fast boot time, and zero high-end hardware requirements.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753073" y="2325957"/>
            <a:ext cx="4853064" cy="385762"/>
            <a:chOff x="0" y="0"/>
            <a:chExt cx="6470752" cy="514350"/>
          </a:xfrm>
        </p:grpSpPr>
        <p:sp>
          <p:nvSpPr>
            <p:cNvPr id="30" name="Freeform 30" descr="image.png"/>
            <p:cNvSpPr/>
            <p:nvPr/>
          </p:nvSpPr>
          <p:spPr>
            <a:xfrm>
              <a:off x="0" y="0"/>
              <a:ext cx="6470777" cy="514350"/>
            </a:xfrm>
            <a:custGeom>
              <a:avLst/>
              <a:gdLst/>
              <a:ahLst/>
              <a:cxnLst/>
              <a:rect l="l" t="t" r="r" b="b"/>
              <a:pathLst>
                <a:path w="6470777" h="514350">
                  <a:moveTo>
                    <a:pt x="0" y="0"/>
                  </a:moveTo>
                  <a:lnTo>
                    <a:pt x="6470777" y="0"/>
                  </a:lnTo>
                  <a:lnTo>
                    <a:pt x="6470777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609" b="-61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753073" y="2768870"/>
            <a:ext cx="4853064" cy="95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Single-tap preset UI designed for cooks in high-pressure mess kitchens, coupled with simple volunteer pickup workflows.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563399" y="2325957"/>
            <a:ext cx="4852835" cy="385762"/>
            <a:chOff x="0" y="0"/>
            <a:chExt cx="6470447" cy="51435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6470396" cy="514350"/>
            </a:xfrm>
            <a:custGeom>
              <a:avLst/>
              <a:gdLst/>
              <a:ahLst/>
              <a:cxnLst/>
              <a:rect l="l" t="t" r="r" b="b"/>
              <a:pathLst>
                <a:path w="6470396" h="514350">
                  <a:moveTo>
                    <a:pt x="0" y="0"/>
                  </a:moveTo>
                  <a:lnTo>
                    <a:pt x="6470396" y="0"/>
                  </a:lnTo>
                  <a:lnTo>
                    <a:pt x="6470396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607" b="-6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2563399" y="2768870"/>
            <a:ext cx="4852835" cy="95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Zero heavy server maintenance fees. Edge computation on device keeps infrastructure costs near zero for institutions.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6123" y="7424518"/>
            <a:ext cx="4989519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Connectivity Limits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1538" y="7710268"/>
            <a:ext cx="4924273" cy="60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Basement mess kitchens frequently lack mobile reception.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63349" y="7424518"/>
            <a:ext cx="4989747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Staff Resistance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81635" y="7710268"/>
            <a:ext cx="4924501" cy="60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Peak-hour cooking pressure makes multi-step entry hard.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906028" y="7424518"/>
            <a:ext cx="5027619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Food Safety &amp; Fraud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491961" y="7710268"/>
            <a:ext cx="4924273" cy="32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Risk of spoiled food or unauthorized collections.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71538" y="7472143"/>
            <a:ext cx="271462" cy="214312"/>
            <a:chOff x="0" y="0"/>
            <a:chExt cx="361950" cy="285750"/>
          </a:xfrm>
        </p:grpSpPr>
        <p:sp>
          <p:nvSpPr>
            <p:cNvPr id="42" name="Freeform 42" descr="image.png"/>
            <p:cNvSpPr/>
            <p:nvPr/>
          </p:nvSpPr>
          <p:spPr>
            <a:xfrm>
              <a:off x="0" y="0"/>
              <a:ext cx="361950" cy="285750"/>
            </a:xfrm>
            <a:custGeom>
              <a:avLst/>
              <a:gdLst/>
              <a:ahLst/>
              <a:cxnLst/>
              <a:rect l="l" t="t" r="r" b="b"/>
              <a:pathLst>
                <a:path w="361950" h="285750">
                  <a:moveTo>
                    <a:pt x="0" y="0"/>
                  </a:moveTo>
                  <a:lnTo>
                    <a:pt x="361950" y="0"/>
                  </a:lnTo>
                  <a:lnTo>
                    <a:pt x="3619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3333" b="-33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28700" y="8577043"/>
            <a:ext cx="97155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065F46"/>
                </a:solidFill>
                <a:latin typeface="Arimo"/>
                <a:ea typeface="Arimo"/>
                <a:cs typeface="Arimo"/>
                <a:sym typeface="Arimo"/>
              </a:rPr>
              <a:t>Mitigation: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681635" y="7472143"/>
            <a:ext cx="271462" cy="214312"/>
            <a:chOff x="0" y="0"/>
            <a:chExt cx="361950" cy="285750"/>
          </a:xfrm>
        </p:grpSpPr>
        <p:sp>
          <p:nvSpPr>
            <p:cNvPr id="45" name="Freeform 45" descr="image.png"/>
            <p:cNvSpPr/>
            <p:nvPr/>
          </p:nvSpPr>
          <p:spPr>
            <a:xfrm>
              <a:off x="0" y="0"/>
              <a:ext cx="361950" cy="285750"/>
            </a:xfrm>
            <a:custGeom>
              <a:avLst/>
              <a:gdLst/>
              <a:ahLst/>
              <a:cxnLst/>
              <a:rect l="l" t="t" r="r" b="b"/>
              <a:pathLst>
                <a:path w="361950" h="285750">
                  <a:moveTo>
                    <a:pt x="0" y="0"/>
                  </a:moveTo>
                  <a:lnTo>
                    <a:pt x="361950" y="0"/>
                  </a:lnTo>
                  <a:lnTo>
                    <a:pt x="3619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3333" b="-33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6838798" y="8577043"/>
            <a:ext cx="97155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065F46"/>
                </a:solidFill>
                <a:latin typeface="Arimo"/>
                <a:ea typeface="Arimo"/>
                <a:cs typeface="Arimo"/>
                <a:sym typeface="Arimo"/>
              </a:rPr>
              <a:t>Mitigation: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2491961" y="7472143"/>
            <a:ext cx="214312" cy="214312"/>
            <a:chOff x="0" y="0"/>
            <a:chExt cx="285750" cy="285750"/>
          </a:xfrm>
        </p:grpSpPr>
        <p:sp>
          <p:nvSpPr>
            <p:cNvPr id="48" name="Freeform 48" descr="image.png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t="-3333" b="-33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649124" y="8577043"/>
            <a:ext cx="97155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065F46"/>
                </a:solidFill>
                <a:latin typeface="Arimo"/>
                <a:ea typeface="Arimo"/>
                <a:cs typeface="Arimo"/>
                <a:sym typeface="Arimo"/>
              </a:rPr>
              <a:t>Mitigation: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81972" y="543510"/>
            <a:ext cx="7524055" cy="68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7"/>
              </a:lnSpc>
            </a:pPr>
            <a:r>
              <a:rPr lang="en-US" sz="4239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Feasibility &amp; </a:t>
            </a:r>
            <a:r>
              <a:rPr lang="en-US" sz="4239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Risk Analysis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5275052" y="307229"/>
            <a:ext cx="2470023" cy="1194816"/>
            <a:chOff x="0" y="0"/>
            <a:chExt cx="3293364" cy="159308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293364" cy="1593088"/>
            </a:xfrm>
            <a:custGeom>
              <a:avLst/>
              <a:gdLst/>
              <a:ahLst/>
              <a:cxnLst/>
              <a:rect l="l" t="t" r="r" b="b"/>
              <a:pathLst>
                <a:path w="3293364" h="1593088">
                  <a:moveTo>
                    <a:pt x="0" y="0"/>
                  </a:moveTo>
                  <a:lnTo>
                    <a:pt x="3293364" y="0"/>
                  </a:lnTo>
                  <a:lnTo>
                    <a:pt x="3293364" y="1593088"/>
                  </a:lnTo>
                  <a:lnTo>
                    <a:pt x="0" y="159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t="-451" b="-4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42925" y="183550"/>
            <a:ext cx="1366396" cy="1442174"/>
            <a:chOff x="0" y="0"/>
            <a:chExt cx="2322068" cy="245084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322068" cy="2450846"/>
            </a:xfrm>
            <a:custGeom>
              <a:avLst/>
              <a:gdLst/>
              <a:ahLst/>
              <a:cxnLst/>
              <a:rect l="l" t="t" r="r" b="b"/>
              <a:pathLst>
                <a:path w="2322068" h="2450846">
                  <a:moveTo>
                    <a:pt x="0" y="0"/>
                  </a:moveTo>
                  <a:lnTo>
                    <a:pt x="2322068" y="0"/>
                  </a:lnTo>
                  <a:lnTo>
                    <a:pt x="2322068" y="2450846"/>
                  </a:lnTo>
                  <a:lnTo>
                    <a:pt x="0" y="2450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772" r="-277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2925" y="2054495"/>
            <a:ext cx="8458200" cy="4243388"/>
            <a:chOff x="0" y="0"/>
            <a:chExt cx="11277600" cy="565785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11277600" cy="5657850"/>
            </a:xfrm>
            <a:custGeom>
              <a:avLst/>
              <a:gdLst/>
              <a:ahLst/>
              <a:cxnLst/>
              <a:rect l="l" t="t" r="r" b="b"/>
              <a:pathLst>
                <a:path w="11277600" h="5657850">
                  <a:moveTo>
                    <a:pt x="0" y="0"/>
                  </a:moveTo>
                  <a:lnTo>
                    <a:pt x="11277600" y="0"/>
                  </a:lnTo>
                  <a:lnTo>
                    <a:pt x="11277600" y="5657850"/>
                  </a:lnTo>
                  <a:lnTo>
                    <a:pt x="0" y="5657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286875" y="2054495"/>
            <a:ext cx="8458200" cy="4243388"/>
            <a:chOff x="0" y="0"/>
            <a:chExt cx="11277600" cy="56578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1277600" cy="5657850"/>
            </a:xfrm>
            <a:custGeom>
              <a:avLst/>
              <a:gdLst/>
              <a:ahLst/>
              <a:cxnLst/>
              <a:rect l="l" t="t" r="r" b="b"/>
              <a:pathLst>
                <a:path w="11277600" h="5657850">
                  <a:moveTo>
                    <a:pt x="0" y="0"/>
                  </a:moveTo>
                  <a:lnTo>
                    <a:pt x="11277600" y="0"/>
                  </a:lnTo>
                  <a:lnTo>
                    <a:pt x="11277600" y="5657850"/>
                  </a:lnTo>
                  <a:lnTo>
                    <a:pt x="0" y="5657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2925" y="8501062"/>
            <a:ext cx="4150519" cy="971550"/>
            <a:chOff x="0" y="0"/>
            <a:chExt cx="5534025" cy="12954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534025" cy="1295400"/>
            </a:xfrm>
            <a:custGeom>
              <a:avLst/>
              <a:gdLst/>
              <a:ahLst/>
              <a:cxnLst/>
              <a:rect l="l" t="t" r="r" b="b"/>
              <a:pathLst>
                <a:path w="5534025" h="1295400">
                  <a:moveTo>
                    <a:pt x="0" y="0"/>
                  </a:moveTo>
                  <a:lnTo>
                    <a:pt x="5534025" y="0"/>
                  </a:lnTo>
                  <a:lnTo>
                    <a:pt x="5534025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8" r="-2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93469" y="8501062"/>
            <a:ext cx="4150519" cy="971550"/>
            <a:chOff x="0" y="0"/>
            <a:chExt cx="5534025" cy="12954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534025" cy="1295400"/>
            </a:xfrm>
            <a:custGeom>
              <a:avLst/>
              <a:gdLst/>
              <a:ahLst/>
              <a:cxnLst/>
              <a:rect l="l" t="t" r="r" b="b"/>
              <a:pathLst>
                <a:path w="5534025" h="1295400">
                  <a:moveTo>
                    <a:pt x="0" y="0"/>
                  </a:moveTo>
                  <a:lnTo>
                    <a:pt x="5534025" y="0"/>
                  </a:lnTo>
                  <a:lnTo>
                    <a:pt x="5534025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8" r="-2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44012" y="8501062"/>
            <a:ext cx="4150519" cy="971550"/>
            <a:chOff x="0" y="0"/>
            <a:chExt cx="5534025" cy="12954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534025" cy="1295400"/>
            </a:xfrm>
            <a:custGeom>
              <a:avLst/>
              <a:gdLst/>
              <a:ahLst/>
              <a:cxnLst/>
              <a:rect l="l" t="t" r="r" b="b"/>
              <a:pathLst>
                <a:path w="5534025" h="1295400">
                  <a:moveTo>
                    <a:pt x="0" y="0"/>
                  </a:moveTo>
                  <a:lnTo>
                    <a:pt x="5534025" y="0"/>
                  </a:lnTo>
                  <a:lnTo>
                    <a:pt x="5534025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8" r="-2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94556" y="8501062"/>
            <a:ext cx="4150519" cy="971550"/>
            <a:chOff x="0" y="0"/>
            <a:chExt cx="5534025" cy="12954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534025" cy="1295400"/>
            </a:xfrm>
            <a:custGeom>
              <a:avLst/>
              <a:gdLst/>
              <a:ahLst/>
              <a:cxnLst/>
              <a:rect l="l" t="t" r="r" b="b"/>
              <a:pathLst>
                <a:path w="5534025" h="1295400">
                  <a:moveTo>
                    <a:pt x="0" y="0"/>
                  </a:moveTo>
                  <a:lnTo>
                    <a:pt x="5534025" y="0"/>
                  </a:lnTo>
                  <a:lnTo>
                    <a:pt x="5534025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58" r="-2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42925" y="9472612"/>
            <a:ext cx="17202150" cy="385762"/>
            <a:chOff x="0" y="0"/>
            <a:chExt cx="22936200" cy="51435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2936200" cy="514350"/>
            </a:xfrm>
            <a:custGeom>
              <a:avLst/>
              <a:gdLst/>
              <a:ahLst/>
              <a:cxnLst/>
              <a:rect l="l" t="t" r="r" b="b"/>
              <a:pathLst>
                <a:path w="22936200" h="514350">
                  <a:moveTo>
                    <a:pt x="0" y="0"/>
                  </a:moveTo>
                  <a:lnTo>
                    <a:pt x="22936200" y="0"/>
                  </a:lnTo>
                  <a:lnTo>
                    <a:pt x="229362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66" r="-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802100" y="9620250"/>
            <a:ext cx="94297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Slide 5 of 6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57312" y="2325957"/>
            <a:ext cx="7680960" cy="414338"/>
            <a:chOff x="0" y="0"/>
            <a:chExt cx="10241280" cy="5524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41280" cy="552450"/>
            </a:xfrm>
            <a:custGeom>
              <a:avLst/>
              <a:gdLst/>
              <a:ahLst/>
              <a:cxnLst/>
              <a:rect l="l" t="t" r="r" b="b"/>
              <a:pathLst>
                <a:path w="10241280" h="552450">
                  <a:moveTo>
                    <a:pt x="0" y="0"/>
                  </a:moveTo>
                  <a:lnTo>
                    <a:pt x="10241280" y="0"/>
                  </a:lnTo>
                  <a:lnTo>
                    <a:pt x="10241280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11212" b="-31121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0241280" cy="571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5"/>
                </a:lnSpc>
              </a:pPr>
              <a:r>
                <a:rPr lang="en-US" sz="2137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Core Operational Benefits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101262" y="2325957"/>
            <a:ext cx="7680960" cy="414338"/>
            <a:chOff x="0" y="0"/>
            <a:chExt cx="10241280" cy="5524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1280" cy="552450"/>
            </a:xfrm>
            <a:custGeom>
              <a:avLst/>
              <a:gdLst/>
              <a:ahLst/>
              <a:cxnLst/>
              <a:rect l="l" t="t" r="r" b="b"/>
              <a:pathLst>
                <a:path w="10241280" h="552450">
                  <a:moveTo>
                    <a:pt x="0" y="0"/>
                  </a:moveTo>
                  <a:lnTo>
                    <a:pt x="10241280" y="0"/>
                  </a:lnTo>
                  <a:lnTo>
                    <a:pt x="10241280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11212" b="-31121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0241280" cy="571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5"/>
                </a:lnSpc>
              </a:pPr>
              <a:r>
                <a:rPr lang="en-US" sz="2137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Socio-Environmental &amp; UN SDGs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10978" y="8686800"/>
            <a:ext cx="1014412" cy="32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PREDICT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2950" y="9039225"/>
            <a:ext cx="3750469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14532D"/>
                </a:solidFill>
                <a:latin typeface="Arimo"/>
                <a:ea typeface="Arimo"/>
                <a:cs typeface="Arimo"/>
                <a:sym typeface="Arimo"/>
              </a:rPr>
              <a:t>AI Attendance &amp; Portion Analytics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40091" y="8686800"/>
            <a:ext cx="1057275" cy="32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75985"/>
                </a:solidFill>
                <a:latin typeface="Poppins"/>
                <a:ea typeface="Poppins"/>
                <a:cs typeface="Poppins"/>
                <a:sym typeface="Poppins"/>
              </a:rPr>
              <a:t>PREVENT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93494" y="9039225"/>
            <a:ext cx="3750469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0C4A6E"/>
                </a:solidFill>
                <a:latin typeface="Arimo"/>
                <a:ea typeface="Arimo"/>
                <a:cs typeface="Arimo"/>
                <a:sym typeface="Arimo"/>
              </a:rPr>
              <a:t>Pre-Cooking Recipe Optimization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76359" y="8686800"/>
            <a:ext cx="885825" cy="32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RESCUE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44038" y="9039225"/>
            <a:ext cx="3750469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78350F"/>
                </a:solidFill>
                <a:latin typeface="Arimo"/>
                <a:ea typeface="Arimo"/>
                <a:cs typeface="Arimo"/>
                <a:sym typeface="Arimo"/>
              </a:rPr>
              <a:t>Instant 2-Hour Shelter Broadcast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69766" y="8686800"/>
            <a:ext cx="800100" cy="32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VERIFY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94581" y="9039225"/>
            <a:ext cx="3750469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581C87"/>
                </a:solidFill>
                <a:latin typeface="Arimo"/>
                <a:ea typeface="Arimo"/>
                <a:cs typeface="Arimo"/>
                <a:sym typeface="Arimo"/>
              </a:rPr>
              <a:t>Cryptographic 4-Digit PIN Handoff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42975" y="2397395"/>
            <a:ext cx="271462" cy="271462"/>
            <a:chOff x="0" y="0"/>
            <a:chExt cx="361950" cy="36195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0"/>
                  </a:moveTo>
                  <a:lnTo>
                    <a:pt x="361950" y="0"/>
                  </a:lnTo>
                  <a:lnTo>
                    <a:pt x="3619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631" b="-263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57300" y="2816495"/>
            <a:ext cx="7415212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Proactive Waste Prevention: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Stops excess before cooking via meal-portion intelligence instead of solely reacting to leftovers.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7300" y="3602307"/>
            <a:ext cx="7415212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25%–35% Procurement Savings: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Optimizes weekly raw grocery, dairy, and vegetable purchasing for university hostels.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57300" y="4388120"/>
            <a:ext cx="7415212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Real-Time Rescue Transparency: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Instant notification guarantees distribution within critical 2-hour edible shelf-life window.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57300" y="5173932"/>
            <a:ext cx="7415212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Automated ESG &amp; NAAC Compliance: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Generates certified food sustainability logs for university accreditation ratings.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686925" y="2397395"/>
            <a:ext cx="271462" cy="271462"/>
            <a:chOff x="0" y="0"/>
            <a:chExt cx="361950" cy="36195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0"/>
                  </a:moveTo>
                  <a:lnTo>
                    <a:pt x="361950" y="0"/>
                  </a:lnTo>
                  <a:lnTo>
                    <a:pt x="3619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631" b="-263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001250" y="2816495"/>
            <a:ext cx="7415212" cy="1031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UN SDG 2 (Zero Hunger):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Channels thousands of wholesome, untouched meals daily to vulnerable urban populations and orphanages.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01250" y="3923776"/>
            <a:ext cx="7415212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UN SDG 12 &amp; 13 (Climate Action):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Prevents organic landfill decomposition, curbing greenhouse methane (CH₄) emissions.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01250" y="4709589"/>
            <a:ext cx="7415212" cy="70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Hyperlocal Community Logistics:</a:t>
            </a:r>
            <a:r>
              <a:rPr lang="en-US" sz="1687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Fosters a reliable logistics link between universities, caterers, municipal bodies, and NGOs.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2975" y="2702195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2975" y="3488007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2975" y="4273820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2975" y="5059632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86925" y="2702195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86925" y="3809476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86925" y="4595289"/>
            <a:ext cx="257175" cy="6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093494" y="500062"/>
            <a:ext cx="7553031" cy="66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9"/>
              </a:lnSpc>
            </a:pPr>
            <a:r>
              <a:rPr lang="en-US" sz="414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Multi-Dimensional </a:t>
            </a:r>
            <a:r>
              <a:rPr lang="en-US" sz="4141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Impact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5269766" y="368213"/>
            <a:ext cx="2470023" cy="1194816"/>
            <a:chOff x="0" y="0"/>
            <a:chExt cx="3293364" cy="159308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293364" cy="1593088"/>
            </a:xfrm>
            <a:custGeom>
              <a:avLst/>
              <a:gdLst/>
              <a:ahLst/>
              <a:cxnLst/>
              <a:rect l="l" t="t" r="r" b="b"/>
              <a:pathLst>
                <a:path w="3293364" h="1593088">
                  <a:moveTo>
                    <a:pt x="0" y="0"/>
                  </a:moveTo>
                  <a:lnTo>
                    <a:pt x="3293364" y="0"/>
                  </a:lnTo>
                  <a:lnTo>
                    <a:pt x="3293364" y="1593088"/>
                  </a:lnTo>
                  <a:lnTo>
                    <a:pt x="0" y="159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451" b="-4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33854" y="186003"/>
            <a:ext cx="1393587" cy="1470873"/>
            <a:chOff x="0" y="0"/>
            <a:chExt cx="2322068" cy="245084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322068" cy="2450846"/>
            </a:xfrm>
            <a:custGeom>
              <a:avLst/>
              <a:gdLst/>
              <a:ahLst/>
              <a:cxnLst/>
              <a:rect l="l" t="t" r="r" b="b"/>
              <a:pathLst>
                <a:path w="2322068" h="2450846">
                  <a:moveTo>
                    <a:pt x="0" y="0"/>
                  </a:moveTo>
                  <a:lnTo>
                    <a:pt x="2322068" y="0"/>
                  </a:lnTo>
                  <a:lnTo>
                    <a:pt x="2322068" y="2450846"/>
                  </a:lnTo>
                  <a:lnTo>
                    <a:pt x="0" y="2450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772" r="-277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2925" y="9472612"/>
            <a:ext cx="17202150" cy="385762"/>
            <a:chOff x="0" y="0"/>
            <a:chExt cx="22936200" cy="51435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936200" cy="514350"/>
            </a:xfrm>
            <a:custGeom>
              <a:avLst/>
              <a:gdLst/>
              <a:ahLst/>
              <a:cxnLst/>
              <a:rect l="l" t="t" r="r" b="b"/>
              <a:pathLst>
                <a:path w="22936200" h="514350">
                  <a:moveTo>
                    <a:pt x="0" y="0"/>
                  </a:moveTo>
                  <a:lnTo>
                    <a:pt x="22936200" y="0"/>
                  </a:lnTo>
                  <a:lnTo>
                    <a:pt x="229362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6" r="-1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6802100" y="9620250"/>
            <a:ext cx="94297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Slide 6 of 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99659" y="585920"/>
            <a:ext cx="9488681" cy="61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Foundations &amp; </a:t>
            </a:r>
            <a:r>
              <a:rPr lang="en-US" sz="3825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275052" y="189916"/>
            <a:ext cx="2470023" cy="1194816"/>
            <a:chOff x="0" y="0"/>
            <a:chExt cx="3293364" cy="15930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3364" cy="1593088"/>
            </a:xfrm>
            <a:custGeom>
              <a:avLst/>
              <a:gdLst/>
              <a:ahLst/>
              <a:cxnLst/>
              <a:rect l="l" t="t" r="r" b="b"/>
              <a:pathLst>
                <a:path w="3293364" h="1593088">
                  <a:moveTo>
                    <a:pt x="0" y="0"/>
                  </a:moveTo>
                  <a:lnTo>
                    <a:pt x="3293364" y="0"/>
                  </a:lnTo>
                  <a:lnTo>
                    <a:pt x="3293364" y="1593088"/>
                  </a:lnTo>
                  <a:lnTo>
                    <a:pt x="0" y="159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51" b="-4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2925" y="153665"/>
            <a:ext cx="1364210" cy="1439867"/>
            <a:chOff x="0" y="0"/>
            <a:chExt cx="2322068" cy="24508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22068" cy="2450846"/>
            </a:xfrm>
            <a:custGeom>
              <a:avLst/>
              <a:gdLst/>
              <a:ahLst/>
              <a:cxnLst/>
              <a:rect l="l" t="t" r="r" b="b"/>
              <a:pathLst>
                <a:path w="2322068" h="2450846">
                  <a:moveTo>
                    <a:pt x="0" y="0"/>
                  </a:moveTo>
                  <a:lnTo>
                    <a:pt x="2322068" y="0"/>
                  </a:lnTo>
                  <a:lnTo>
                    <a:pt x="2322068" y="2450846"/>
                  </a:lnTo>
                  <a:lnTo>
                    <a:pt x="0" y="2450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72" r="-277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14400" y="1822132"/>
            <a:ext cx="1135856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Backed by global environmental benchmarks, machine learning literature, and modern Android standards.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28650" y="2308774"/>
            <a:ext cx="17030700" cy="1050322"/>
            <a:chOff x="0" y="0"/>
            <a:chExt cx="22707600" cy="1400429"/>
          </a:xfrm>
        </p:grpSpPr>
        <p:sp>
          <p:nvSpPr>
            <p:cNvPr id="12" name="Freeform 12" descr="image.png"/>
            <p:cNvSpPr/>
            <p:nvPr/>
          </p:nvSpPr>
          <p:spPr>
            <a:xfrm>
              <a:off x="0" y="0"/>
              <a:ext cx="22707600" cy="1400429"/>
            </a:xfrm>
            <a:custGeom>
              <a:avLst/>
              <a:gdLst/>
              <a:ahLst/>
              <a:cxnLst/>
              <a:rect l="l" t="t" r="r" b="b"/>
              <a:pathLst>
                <a:path w="22707600" h="1400429">
                  <a:moveTo>
                    <a:pt x="0" y="0"/>
                  </a:moveTo>
                  <a:lnTo>
                    <a:pt x="22707600" y="0"/>
                  </a:lnTo>
                  <a:lnTo>
                    <a:pt x="22707600" y="1400429"/>
                  </a:lnTo>
                  <a:lnTo>
                    <a:pt x="0" y="140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11" b="-10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2465937"/>
            <a:ext cx="16502062" cy="242888"/>
            <a:chOff x="0" y="0"/>
            <a:chExt cx="22002750" cy="3238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02750" cy="323851"/>
            </a:xfrm>
            <a:custGeom>
              <a:avLst/>
              <a:gdLst/>
              <a:ahLst/>
              <a:cxnLst/>
              <a:rect l="l" t="t" r="r" b="b"/>
              <a:pathLst>
                <a:path w="22002750" h="323851">
                  <a:moveTo>
                    <a:pt x="0" y="0"/>
                  </a:moveTo>
                  <a:lnTo>
                    <a:pt x="22002750" y="0"/>
                  </a:lnTo>
                  <a:lnTo>
                    <a:pt x="22002750" y="323851"/>
                  </a:lnTo>
                  <a:lnTo>
                    <a:pt x="0" y="3238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73833" b="-127383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002750" cy="323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1. UNEP Food Waste Index Report (2024)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" y="5807497"/>
            <a:ext cx="17030700" cy="1050322"/>
            <a:chOff x="0" y="0"/>
            <a:chExt cx="22707600" cy="1400429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22707600" cy="1400429"/>
            </a:xfrm>
            <a:custGeom>
              <a:avLst/>
              <a:gdLst/>
              <a:ahLst/>
              <a:cxnLst/>
              <a:rect l="l" t="t" r="r" b="b"/>
              <a:pathLst>
                <a:path w="22707600" h="1400429">
                  <a:moveTo>
                    <a:pt x="0" y="0"/>
                  </a:moveTo>
                  <a:lnTo>
                    <a:pt x="22707600" y="0"/>
                  </a:lnTo>
                  <a:lnTo>
                    <a:pt x="22707600" y="1400429"/>
                  </a:lnTo>
                  <a:lnTo>
                    <a:pt x="0" y="140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11" b="-10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14400" y="6567335"/>
            <a:ext cx="16502062" cy="2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179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 Food and Agriculture Organization of the United Nations (FAO), Rome, 2022.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" y="6274222"/>
            <a:ext cx="16502062" cy="27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6"/>
              </a:lnSpc>
            </a:pPr>
            <a:r>
              <a:rPr lang="en-US" sz="12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International framework guidelines establishing standard measurement protocols, donation hygiene standards, cold-chain windows, and zero-waste kitchen practices.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14400" y="6045622"/>
            <a:ext cx="16502062" cy="242888"/>
            <a:chOff x="0" y="0"/>
            <a:chExt cx="22002750" cy="3238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002750" cy="323851"/>
            </a:xfrm>
            <a:custGeom>
              <a:avLst/>
              <a:gdLst/>
              <a:ahLst/>
              <a:cxnLst/>
              <a:rect l="l" t="t" r="r" b="b"/>
              <a:pathLst>
                <a:path w="22002750" h="323851">
                  <a:moveTo>
                    <a:pt x="0" y="0"/>
                  </a:moveTo>
                  <a:lnTo>
                    <a:pt x="22002750" y="0"/>
                  </a:lnTo>
                  <a:lnTo>
                    <a:pt x="22002750" y="323851"/>
                  </a:lnTo>
                  <a:lnTo>
                    <a:pt x="0" y="3238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73833" b="-127383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2002750" cy="323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4. FAO Voluntary Code of Conduct for Food Loss and Waste Reduction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" y="4614262"/>
            <a:ext cx="17030700" cy="1050322"/>
            <a:chOff x="0" y="0"/>
            <a:chExt cx="22707600" cy="1400429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22707600" cy="1400429"/>
            </a:xfrm>
            <a:custGeom>
              <a:avLst/>
              <a:gdLst/>
              <a:ahLst/>
              <a:cxnLst/>
              <a:rect l="l" t="t" r="r" b="b"/>
              <a:pathLst>
                <a:path w="22707600" h="1400429">
                  <a:moveTo>
                    <a:pt x="0" y="0"/>
                  </a:moveTo>
                  <a:lnTo>
                    <a:pt x="22707600" y="0"/>
                  </a:lnTo>
                  <a:lnTo>
                    <a:pt x="22707600" y="1400429"/>
                  </a:lnTo>
                  <a:lnTo>
                    <a:pt x="0" y="140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11" b="-10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14400" y="5374110"/>
            <a:ext cx="16502062" cy="2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179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 IEEE Transactions on Sustainable Computing, Vol. 7, Issue 3, pp. 612-625, doi:10.1109/TSUSC.2022.3158941.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4400" y="5080987"/>
            <a:ext cx="16502062" cy="27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6"/>
              </a:lnSpc>
            </a:pPr>
            <a:r>
              <a:rPr lang="en-US" sz="12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Empirical study analyzing predictive demand forecasting algorithms, inventory buffer reductions, and routing optimization in institutional and industrial catering environments.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14400" y="4852387"/>
            <a:ext cx="16502062" cy="242888"/>
            <a:chOff x="0" y="0"/>
            <a:chExt cx="22002750" cy="3238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002750" cy="323851"/>
            </a:xfrm>
            <a:custGeom>
              <a:avLst/>
              <a:gdLst/>
              <a:ahLst/>
              <a:cxnLst/>
              <a:rect l="l" t="t" r="r" b="b"/>
              <a:pathLst>
                <a:path w="22002750" h="323851">
                  <a:moveTo>
                    <a:pt x="0" y="0"/>
                  </a:moveTo>
                  <a:lnTo>
                    <a:pt x="22002750" y="0"/>
                  </a:lnTo>
                  <a:lnTo>
                    <a:pt x="22002750" y="323851"/>
                  </a:lnTo>
                  <a:lnTo>
                    <a:pt x="0" y="3238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73833" b="-127383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2002750" cy="323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3. Predictive Analytics for Perishable Food Supply Chains Using ML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" y="3461518"/>
            <a:ext cx="17030700" cy="1050322"/>
            <a:chOff x="0" y="0"/>
            <a:chExt cx="22707600" cy="1400429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22707600" cy="1400429"/>
            </a:xfrm>
            <a:custGeom>
              <a:avLst/>
              <a:gdLst/>
              <a:ahLst/>
              <a:cxnLst/>
              <a:rect l="l" t="t" r="r" b="b"/>
              <a:pathLst>
                <a:path w="22707600" h="1400429">
                  <a:moveTo>
                    <a:pt x="0" y="0"/>
                  </a:moveTo>
                  <a:lnTo>
                    <a:pt x="22707600" y="0"/>
                  </a:lnTo>
                  <a:lnTo>
                    <a:pt x="22707600" y="1400429"/>
                  </a:lnTo>
                  <a:lnTo>
                    <a:pt x="0" y="140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11" b="-10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14400" y="4180875"/>
            <a:ext cx="16502062" cy="2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179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 Gemini Team, Google DeepMind, arXiv:2312.11805 [cs.CL], Dec 2023 / Updated 2024.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3887762"/>
            <a:ext cx="16502062" cy="27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6"/>
              </a:lnSpc>
            </a:pPr>
            <a:r>
              <a:rPr lang="en-US" sz="12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Foundational architecture demonstrating multimodal contextual reasoning, zero-shot structured JSON generation, and lightweight on-device assisted inference for culinary demand estimation.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14400" y="3659162"/>
            <a:ext cx="16502062" cy="242888"/>
            <a:chOff x="0" y="0"/>
            <a:chExt cx="22002750" cy="3238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002750" cy="323851"/>
            </a:xfrm>
            <a:custGeom>
              <a:avLst/>
              <a:gdLst/>
              <a:ahLst/>
              <a:cxnLst/>
              <a:rect l="l" t="t" r="r" b="b"/>
              <a:pathLst>
                <a:path w="22002750" h="323851">
                  <a:moveTo>
                    <a:pt x="0" y="0"/>
                  </a:moveTo>
                  <a:lnTo>
                    <a:pt x="22002750" y="0"/>
                  </a:lnTo>
                  <a:lnTo>
                    <a:pt x="22002750" y="323851"/>
                  </a:lnTo>
                  <a:lnTo>
                    <a:pt x="0" y="3238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73833" b="-127383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22002750" cy="323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2. Google Gemini: A Family of Highly Capable Multimodal Models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14400" y="2987650"/>
            <a:ext cx="16502062" cy="2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179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 United Nations Environment Programme (UNEP), Nairobi. ISBN: 978-92-807-4112-4, Published March 2024.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4400" y="2694537"/>
            <a:ext cx="16502062" cy="27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6"/>
              </a:lnSpc>
            </a:pPr>
            <a:r>
              <a:rPr lang="en-US" sz="12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Comprehensive global data on food service and institutional waste, validating the critical urgency of pre-consumer portion optimization and immediate diversion protocols.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50081" y="8284421"/>
            <a:ext cx="17030700" cy="1050322"/>
            <a:chOff x="0" y="0"/>
            <a:chExt cx="22707600" cy="1400429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22707600" cy="1400429"/>
            </a:xfrm>
            <a:custGeom>
              <a:avLst/>
              <a:gdLst/>
              <a:ahLst/>
              <a:cxnLst/>
              <a:rect l="l" t="t" r="r" b="b"/>
              <a:pathLst>
                <a:path w="22707600" h="1400429">
                  <a:moveTo>
                    <a:pt x="0" y="0"/>
                  </a:moveTo>
                  <a:lnTo>
                    <a:pt x="22707600" y="0"/>
                  </a:lnTo>
                  <a:lnTo>
                    <a:pt x="22707600" y="1400429"/>
                  </a:lnTo>
                  <a:lnTo>
                    <a:pt x="0" y="140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11" b="-10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5483802" y="8559432"/>
            <a:ext cx="206231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2"/>
              </a:lnSpc>
            </a:pPr>
            <a:r>
              <a:rPr lang="en-US" sz="1293" b="1">
                <a:solidFill>
                  <a:srgbClr val="6AC0F1"/>
                </a:solidFill>
                <a:latin typeface="Inter Bold"/>
                <a:ea typeface="Inter Bold"/>
                <a:cs typeface="Inter Bold"/>
                <a:sym typeface="Inter Bold"/>
              </a:rPr>
              <a:t>AI RESEARCH ASSISTANT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28650" y="7091224"/>
            <a:ext cx="17030700" cy="1050322"/>
            <a:chOff x="0" y="0"/>
            <a:chExt cx="22707600" cy="1400429"/>
          </a:xfrm>
        </p:grpSpPr>
        <p:sp>
          <p:nvSpPr>
            <p:cNvPr id="43" name="Freeform 43" descr="image.png"/>
            <p:cNvSpPr/>
            <p:nvPr/>
          </p:nvSpPr>
          <p:spPr>
            <a:xfrm>
              <a:off x="0" y="0"/>
              <a:ext cx="22707600" cy="1400429"/>
            </a:xfrm>
            <a:custGeom>
              <a:avLst/>
              <a:gdLst/>
              <a:ahLst/>
              <a:cxnLst/>
              <a:rect l="l" t="t" r="r" b="b"/>
              <a:pathLst>
                <a:path w="22707600" h="1400429">
                  <a:moveTo>
                    <a:pt x="0" y="0"/>
                  </a:moveTo>
                  <a:lnTo>
                    <a:pt x="22707600" y="0"/>
                  </a:lnTo>
                  <a:lnTo>
                    <a:pt x="22707600" y="1400429"/>
                  </a:lnTo>
                  <a:lnTo>
                    <a:pt x="0" y="140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11" b="-10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701962" y="7220483"/>
            <a:ext cx="1844135" cy="261271"/>
            <a:chOff x="0" y="0"/>
            <a:chExt cx="2458847" cy="348361"/>
          </a:xfrm>
        </p:grpSpPr>
        <p:sp>
          <p:nvSpPr>
            <p:cNvPr id="45" name="Freeform 45" descr="image.png"/>
            <p:cNvSpPr/>
            <p:nvPr/>
          </p:nvSpPr>
          <p:spPr>
            <a:xfrm>
              <a:off x="0" y="0"/>
              <a:ext cx="2458847" cy="348361"/>
            </a:xfrm>
            <a:custGeom>
              <a:avLst/>
              <a:gdLst/>
              <a:ahLst/>
              <a:cxnLst/>
              <a:rect l="l" t="t" r="r" b="b"/>
              <a:pathLst>
                <a:path w="2458847" h="348361">
                  <a:moveTo>
                    <a:pt x="0" y="0"/>
                  </a:moveTo>
                  <a:lnTo>
                    <a:pt x="2458847" y="0"/>
                  </a:lnTo>
                  <a:lnTo>
                    <a:pt x="2458847" y="348361"/>
                  </a:lnTo>
                  <a:lnTo>
                    <a:pt x="0" y="348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938" b="-293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859125" y="6025401"/>
            <a:ext cx="1686973" cy="263080"/>
            <a:chOff x="0" y="0"/>
            <a:chExt cx="2249297" cy="350774"/>
          </a:xfrm>
        </p:grpSpPr>
        <p:sp>
          <p:nvSpPr>
            <p:cNvPr id="47" name="Freeform 47" descr="image.png"/>
            <p:cNvSpPr/>
            <p:nvPr/>
          </p:nvSpPr>
          <p:spPr>
            <a:xfrm>
              <a:off x="0" y="0"/>
              <a:ext cx="2249297" cy="350774"/>
            </a:xfrm>
            <a:custGeom>
              <a:avLst/>
              <a:gdLst/>
              <a:ahLst/>
              <a:cxnLst/>
              <a:rect l="l" t="t" r="r" b="b"/>
              <a:pathLst>
                <a:path w="2249297" h="350774">
                  <a:moveTo>
                    <a:pt x="0" y="0"/>
                  </a:moveTo>
                  <a:lnTo>
                    <a:pt x="2249297" y="0"/>
                  </a:lnTo>
                  <a:lnTo>
                    <a:pt x="2249297" y="350774"/>
                  </a:lnTo>
                  <a:lnTo>
                    <a:pt x="0" y="35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947" b="-294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5701962" y="4834023"/>
            <a:ext cx="1844135" cy="261271"/>
            <a:chOff x="0" y="0"/>
            <a:chExt cx="2458847" cy="348361"/>
          </a:xfrm>
        </p:grpSpPr>
        <p:sp>
          <p:nvSpPr>
            <p:cNvPr id="49" name="Freeform 49" descr="image.png"/>
            <p:cNvSpPr/>
            <p:nvPr/>
          </p:nvSpPr>
          <p:spPr>
            <a:xfrm>
              <a:off x="0" y="0"/>
              <a:ext cx="2458847" cy="348361"/>
            </a:xfrm>
            <a:custGeom>
              <a:avLst/>
              <a:gdLst/>
              <a:ahLst/>
              <a:cxnLst/>
              <a:rect l="l" t="t" r="r" b="b"/>
              <a:pathLst>
                <a:path w="2458847" h="348361">
                  <a:moveTo>
                    <a:pt x="0" y="0"/>
                  </a:moveTo>
                  <a:lnTo>
                    <a:pt x="2458847" y="0"/>
                  </a:lnTo>
                  <a:lnTo>
                    <a:pt x="2458847" y="348361"/>
                  </a:lnTo>
                  <a:lnTo>
                    <a:pt x="0" y="348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938" b="-293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6144875" y="3634397"/>
            <a:ext cx="1401223" cy="267653"/>
            <a:chOff x="0" y="0"/>
            <a:chExt cx="1868297" cy="356870"/>
          </a:xfrm>
        </p:grpSpPr>
        <p:sp>
          <p:nvSpPr>
            <p:cNvPr id="51" name="Freeform 51" descr="image.png"/>
            <p:cNvSpPr/>
            <p:nvPr/>
          </p:nvSpPr>
          <p:spPr>
            <a:xfrm>
              <a:off x="0" y="0"/>
              <a:ext cx="1868297" cy="356870"/>
            </a:xfrm>
            <a:custGeom>
              <a:avLst/>
              <a:gdLst/>
              <a:ahLst/>
              <a:cxnLst/>
              <a:rect l="l" t="t" r="r" b="b"/>
              <a:pathLst>
                <a:path w="1868297" h="356870">
                  <a:moveTo>
                    <a:pt x="0" y="0"/>
                  </a:moveTo>
                  <a:lnTo>
                    <a:pt x="1868297" y="0"/>
                  </a:lnTo>
                  <a:lnTo>
                    <a:pt x="1868297" y="356870"/>
                  </a:lnTo>
                  <a:lnTo>
                    <a:pt x="0" y="35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939" b="-294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5873412" y="2445525"/>
            <a:ext cx="1672685" cy="263271"/>
            <a:chOff x="0" y="0"/>
            <a:chExt cx="2230247" cy="351028"/>
          </a:xfrm>
        </p:grpSpPr>
        <p:sp>
          <p:nvSpPr>
            <p:cNvPr id="53" name="Freeform 53" descr="image.png"/>
            <p:cNvSpPr/>
            <p:nvPr/>
          </p:nvSpPr>
          <p:spPr>
            <a:xfrm>
              <a:off x="0" y="0"/>
              <a:ext cx="2230247" cy="351028"/>
            </a:xfrm>
            <a:custGeom>
              <a:avLst/>
              <a:gdLst/>
              <a:ahLst/>
              <a:cxnLst/>
              <a:rect l="l" t="t" r="r" b="b"/>
              <a:pathLst>
                <a:path w="2230247" h="351028">
                  <a:moveTo>
                    <a:pt x="0" y="0"/>
                  </a:moveTo>
                  <a:lnTo>
                    <a:pt x="2230247" y="0"/>
                  </a:lnTo>
                  <a:lnTo>
                    <a:pt x="2230247" y="351028"/>
                  </a:lnTo>
                  <a:lnTo>
                    <a:pt x="0" y="351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945" b="-294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-5200021" y="8966768"/>
            <a:ext cx="1703070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>
                <a:solidFill>
                  <a:srgbClr val="64748B"/>
                </a:solidFill>
                <a:latin typeface="Inter Italics"/>
                <a:ea typeface="Inter Italics"/>
                <a:cs typeface="Inter Italics"/>
                <a:sym typeface="Inter Italics"/>
              </a:rPr>
              <a:t>Perplexity Al. Online. Accessed May 2024. https://www.perplexity.ai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14400" y="8414318"/>
            <a:ext cx="1305286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6.Perplexity Al (Online Research Assistant)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Al-powered research assistant used for real-time exploration of technical concepts, documentation, standards, and cross-verification of latest industry best practices.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14400" y="7760570"/>
            <a:ext cx="16502062" cy="2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179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 Google Developers Documentation &amp; Android Architecture Guides (BoM 34.17.0), 2024–2026.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14400" y="7467448"/>
            <a:ext cx="16502062" cy="27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6"/>
              </a:lnSpc>
            </a:pPr>
            <a:r>
              <a:rPr lang="en-US" sz="12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Official design patterns for declarative UI composition, reactive Kotlin StateFlow pipelines, Room SQLite local relational persistence, and secure cloud synchronization.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914400" y="7238848"/>
            <a:ext cx="16502062" cy="242888"/>
            <a:chOff x="0" y="0"/>
            <a:chExt cx="22002750" cy="32385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2002750" cy="323851"/>
            </a:xfrm>
            <a:custGeom>
              <a:avLst/>
              <a:gdLst/>
              <a:ahLst/>
              <a:cxnLst/>
              <a:rect l="l" t="t" r="r" b="b"/>
              <a:pathLst>
                <a:path w="22002750" h="323851">
                  <a:moveTo>
                    <a:pt x="0" y="0"/>
                  </a:moveTo>
                  <a:lnTo>
                    <a:pt x="22002750" y="0"/>
                  </a:lnTo>
                  <a:lnTo>
                    <a:pt x="22002750" y="323851"/>
                  </a:lnTo>
                  <a:lnTo>
                    <a:pt x="0" y="3238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73833" b="-127383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22002750" cy="323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5. Android Jetpack &amp; Modern Architecture Guidelines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04291" y="1745932"/>
            <a:ext cx="85725" cy="342900"/>
            <a:chOff x="0" y="0"/>
            <a:chExt cx="114300" cy="4572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4300" cy="457200"/>
            </a:xfrm>
            <a:custGeom>
              <a:avLst/>
              <a:gdLst/>
              <a:ahLst/>
              <a:cxnLst/>
              <a:rect l="l" t="t" r="r" b="b"/>
              <a:pathLst>
                <a:path w="114300" h="4572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400050"/>
                  </a:lnTo>
                  <a:cubicBezTo>
                    <a:pt x="114300" y="431673"/>
                    <a:pt x="88773" y="457200"/>
                    <a:pt x="57150" y="457200"/>
                  </a:cubicBezTo>
                  <a:cubicBezTo>
                    <a:pt x="25527" y="457200"/>
                    <a:pt x="0" y="431673"/>
                    <a:pt x="0" y="400050"/>
                  </a:cubicBezTo>
                  <a:close/>
                </a:path>
              </a:pathLst>
            </a:custGeom>
            <a:solidFill>
              <a:srgbClr val="10B981"/>
            </a:solid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1111</Words>
  <Application>Microsoft Office PowerPoint</Application>
  <PresentationFormat>Custom</PresentationFormat>
  <Paragraphs>137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Arimo Bold</vt:lpstr>
      <vt:lpstr>Calibri</vt:lpstr>
      <vt:lpstr>Inter</vt:lpstr>
      <vt:lpstr>Poppins</vt:lpstr>
      <vt:lpstr>Garamond Bold</vt:lpstr>
      <vt:lpstr>Poppins Bold</vt:lpstr>
      <vt:lpstr>Arimo</vt:lpstr>
      <vt:lpstr>Inter Italics</vt:lpstr>
      <vt:lpstr>Arial Bold</vt:lpstr>
      <vt:lpstr>Arimo Italics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FoodGuard SIH 2026 Technical Presentation (Light Mode).pptx</dc:title>
  <cp:lastModifiedBy>csbsstudent48</cp:lastModifiedBy>
  <cp:revision>2</cp:revision>
  <dcterms:created xsi:type="dcterms:W3CDTF">2006-08-16T00:00:00Z</dcterms:created>
  <dcterms:modified xsi:type="dcterms:W3CDTF">2026-09-03T07:18:08Z</dcterms:modified>
  <dc:identifier>DAHUEfGM_6A</dc:identifier>
</cp:coreProperties>
</file>